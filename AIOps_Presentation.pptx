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18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82"/>
  </p:normalViewPr>
  <p:slideViewPr>
    <p:cSldViewPr snapToGrid="0">
      <p:cViewPr varScale="1">
        <p:scale>
          <a:sx n="119" d="100"/>
          <a:sy n="11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DFC8C-CDC0-42C8-AD98-B0CCF5BBB59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72704-D56D-493C-919C-653C9FA8E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7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72704-D56D-493C-919C-653C9FA8EB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37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64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 rot="10800000">
            <a:off x="9755186" y="1283750"/>
            <a:ext cx="2436813" cy="5574249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0E9022C-1887-E6AB-F25E-E82072D742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12837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394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imanikrouz@gmail.com" TargetMode="External"/><Relationship Id="rId2" Type="http://schemas.openxmlformats.org/officeDocument/2006/relationships/hyperlink" Target="mailto:alishahnazi83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8A17-9FE5-7F86-1A2C-29C4A5508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5993" y="1917700"/>
            <a:ext cx="8464550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  <a:scene3d>
              <a:camera prst="orthographicFront"/>
              <a:lightRig rig="threePt" dir="t"/>
            </a:scene3d>
            <a:sp3d extrusionH="57150">
              <a:bevelT w="50800" h="38100" prst="riblet"/>
            </a:sp3d>
          </a:bodyPr>
          <a:lstStyle>
            <a:lvl1pPr algn="ctr" rtl="1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 i="0" kern="1200" baseline="0">
                <a:solidFill>
                  <a:schemeClr val="bg1"/>
                </a:solidFill>
                <a:latin typeface="Arial Black" panose="020B0A04020102020204" pitchFamily="34" charset="0"/>
                <a:ea typeface="+mj-ea"/>
                <a:cs typeface="B Titr" panose="00000700000000000000" pitchFamily="2" charset="-78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Systematic Literature Review on AI-Driven DevOps: Enhancing CI/CD, Monitoring, and Error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89814-F4BA-D131-D817-362954E73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882" y="3642949"/>
            <a:ext cx="84645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rtl="1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a-IR" altLang="en-US" sz="1800" b="1" dirty="0">
                <a:cs typeface="B Nazanin" panose="00000400000000000000" pitchFamily="2" charset="-78"/>
              </a:rPr>
              <a:t>کد مقاله: </a:t>
            </a:r>
            <a:r>
              <a:rPr lang="en-US" altLang="en-US" sz="1800" b="1" dirty="0">
                <a:cs typeface="B Mitra" panose="00000400000000000000" pitchFamily="2" charset="-78"/>
              </a:rPr>
              <a:t>csc-1110</a:t>
            </a:r>
            <a:r>
              <a:rPr lang="fa-IR" altLang="en-US" sz="1800" b="1" dirty="0">
                <a:cs typeface="B Mitra" panose="00000400000000000000" pitchFamily="2" charset="-78"/>
              </a:rPr>
              <a:t> </a:t>
            </a:r>
            <a:endParaRPr lang="en-US" altLang="en-US" sz="1800" b="1" dirty="0">
              <a:cs typeface="B Mitra" panose="00000400000000000000" pitchFamily="2" charset="-78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728EF2E-1A89-FC9A-8DEB-080252808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639" y="4804757"/>
            <a:ext cx="1083514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marL="0" indent="0" algn="ctr" rtl="1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0" kern="1200" baseline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B Mitra" panose="00000400000000000000" pitchFamily="2" charset="-78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 Shahnazi, </a:t>
            </a: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Bachelor's Student in Computer Engineering, Faculty of Technology and Engineering, University of </a:t>
            </a:r>
            <a:r>
              <a:rPr lang="en-US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Guilan</a:t>
            </a: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Guilan</a:t>
            </a: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Iran; </a:t>
            </a:r>
            <a:r>
              <a:rPr lang="en-US" b="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alishahnazi83@gmail.com</a:t>
            </a:r>
            <a:endParaRPr lang="en-US" b="0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1" hangingPunct="1">
              <a:defRPr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Nima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Nikrouz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Bachelor's Student in Computer Engineering, Faculty of Technology and Engineering, University of </a:t>
            </a:r>
            <a:r>
              <a:rPr lang="en-US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Guilan</a:t>
            </a: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Guilan</a:t>
            </a: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Iran; </a:t>
            </a:r>
            <a:r>
              <a:rPr lang="en-US" b="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nimanikrouz@gmail.com</a:t>
            </a:r>
            <a:endParaRPr lang="en-US" b="0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1" hangingPunct="1">
              <a:defRPr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Amir Seyed Danesh, </a:t>
            </a: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Engineering and Technology and Engineering, East of </a:t>
            </a:r>
            <a:r>
              <a:rPr lang="en-US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Guilan</a:t>
            </a: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University of </a:t>
            </a:r>
            <a:r>
              <a:rPr lang="en-US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Guilan</a:t>
            </a: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Rudsar</a:t>
            </a: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Vajargah</a:t>
            </a: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Iran; </a:t>
            </a:r>
            <a:r>
              <a:rPr lang="en-US" b="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seyeddanesh@guilan.ac.ir</a:t>
            </a:r>
            <a:endPara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1" hangingPunct="1"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1" hangingPunct="1"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81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AAC985-B571-85B2-44D4-932DF7E381FA}"/>
              </a:ext>
            </a:extLst>
          </p:cNvPr>
          <p:cNvSpPr txBox="1"/>
          <p:nvPr/>
        </p:nvSpPr>
        <p:spPr>
          <a:xfrm>
            <a:off x="774550" y="1624405"/>
            <a:ext cx="15969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EBA8A-0C4A-E7B9-A376-8F7C2EFE0B0D}"/>
              </a:ext>
            </a:extLst>
          </p:cNvPr>
          <p:cNvSpPr txBox="1"/>
          <p:nvPr/>
        </p:nvSpPr>
        <p:spPr>
          <a:xfrm>
            <a:off x="774550" y="2485016"/>
            <a:ext cx="5725997" cy="3244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Introduction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Background on CI/CD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Methodology of article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Case study on GitLab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Conclusion</a:t>
            </a:r>
          </a:p>
        </p:txBody>
      </p:sp>
    </p:spTree>
    <p:extLst>
      <p:ext uri="{BB962C8B-B14F-4D97-AF65-F5344CB8AC3E}">
        <p14:creationId xmlns:p14="http://schemas.microsoft.com/office/powerpoint/2010/main" val="830679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3EC254-D9D9-8A27-F8F4-D652CE16E040}"/>
              </a:ext>
            </a:extLst>
          </p:cNvPr>
          <p:cNvSpPr txBox="1"/>
          <p:nvPr/>
        </p:nvSpPr>
        <p:spPr>
          <a:xfrm>
            <a:off x="599767" y="187027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32373F"/>
                </a:solidFill>
                <a:latin typeface="AvenirNext-Regular"/>
              </a:rPr>
              <a:t>Introduction &amp; Research Goal</a:t>
            </a:r>
            <a:endParaRPr lang="en-US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E93FF-44AC-A53C-6E21-3B9423F4A1FC}"/>
              </a:ext>
            </a:extLst>
          </p:cNvPr>
          <p:cNvSpPr txBox="1"/>
          <p:nvPr/>
        </p:nvSpPr>
        <p:spPr>
          <a:xfrm>
            <a:off x="599766" y="2588082"/>
            <a:ext cx="89768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paper presents a systematic literature review (SLR) from 2020–2025 to explore how AI (ML, DL, LLMs) enhances DevOps in three key areas: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D4D439-C6DC-B021-1E5E-C95495F41C76}"/>
              </a:ext>
            </a:extLst>
          </p:cNvPr>
          <p:cNvSpPr txBox="1"/>
          <p:nvPr/>
        </p:nvSpPr>
        <p:spPr>
          <a:xfrm>
            <a:off x="599766" y="336365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CI/CD Automation</a:t>
            </a:r>
          </a:p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Monitoring &amp; Anomaly Detection</a:t>
            </a:r>
          </a:p>
          <a:p>
            <a:pPr algn="l"/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Fault Prediction &amp; Remediation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E06D7C-F3AA-1D28-BA79-7D85946C4D47}"/>
              </a:ext>
            </a:extLst>
          </p:cNvPr>
          <p:cNvSpPr txBox="1"/>
          <p:nvPr/>
        </p:nvSpPr>
        <p:spPr>
          <a:xfrm>
            <a:off x="599766" y="461347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Questions: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4482F6-2E27-8EFA-FB5E-A4528DBCCA08}"/>
              </a:ext>
            </a:extLst>
          </p:cNvPr>
          <p:cNvSpPr txBox="1"/>
          <p:nvPr/>
        </p:nvSpPr>
        <p:spPr>
          <a:xfrm>
            <a:off x="599766" y="5083729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AI algorithms are used in DevOps workflows?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has AI improved CI/CD processes?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methods exist for error prediction in DevOps?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diagram of a machine&#10;&#10;AI-generated content may be incorrect.">
            <a:extLst>
              <a:ext uri="{FF2B5EF4-FFF2-40B4-BE49-F238E27FC236}">
                <a16:creationId xmlns:a16="http://schemas.microsoft.com/office/drawing/2014/main" id="{30062258-54D3-B90B-A719-F24EEE860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381" y="3831129"/>
            <a:ext cx="3545639" cy="236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3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A53313-D846-EAF3-72B1-01223AE92EE5}"/>
              </a:ext>
            </a:extLst>
          </p:cNvPr>
          <p:cNvSpPr txBox="1"/>
          <p:nvPr/>
        </p:nvSpPr>
        <p:spPr>
          <a:xfrm>
            <a:off x="599768" y="1889941"/>
            <a:ext cx="71775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Topics Covered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20AB5-B54C-48D2-B660-D58D6EFDE20C}"/>
              </a:ext>
            </a:extLst>
          </p:cNvPr>
          <p:cNvSpPr txBox="1"/>
          <p:nvPr/>
        </p:nvSpPr>
        <p:spPr>
          <a:xfrm>
            <a:off x="599768" y="28991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i="0" u="none" strike="noStrike" baseline="0" dirty="0">
                <a:solidFill>
                  <a:srgbClr val="32373F"/>
                </a:solidFill>
                <a:latin typeface="AvenirNext-Regular"/>
              </a:rPr>
              <a:t>Four quadrants or timeline layout: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90A5C-0FED-2A25-F2B2-7D3A2AC08531}"/>
              </a:ext>
            </a:extLst>
          </p:cNvPr>
          <p:cNvSpPr txBox="1"/>
          <p:nvPr/>
        </p:nvSpPr>
        <p:spPr>
          <a:xfrm>
            <a:off x="599768" y="378524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DevOps is a widely embraced framework…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2343E4-95E7-6A2F-A29E-FBEE1EA01863}"/>
              </a:ext>
            </a:extLst>
          </p:cNvPr>
          <p:cNvSpPr txBox="1"/>
          <p:nvPr/>
        </p:nvSpPr>
        <p:spPr>
          <a:xfrm>
            <a:off x="599768" y="4246913"/>
            <a:ext cx="72955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 Importance of AI in Improving DevOps Processes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 Problems in CI/CD and Monitoring that AI Can Address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1.3 Research Goals and Questions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blue and white diagram&#10;&#10;AI-generated content may be incorrect.">
            <a:extLst>
              <a:ext uri="{FF2B5EF4-FFF2-40B4-BE49-F238E27FC236}">
                <a16:creationId xmlns:a16="http://schemas.microsoft.com/office/drawing/2014/main" id="{9491F59E-4F10-8556-4D1B-A7676FFBB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768" y="2041837"/>
            <a:ext cx="4236505" cy="238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3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E01B0D-5902-7627-748C-9A5002A66772}"/>
              </a:ext>
            </a:extLst>
          </p:cNvPr>
          <p:cNvSpPr txBox="1"/>
          <p:nvPr/>
        </p:nvSpPr>
        <p:spPr>
          <a:xfrm>
            <a:off x="629263" y="1742417"/>
            <a:ext cx="82780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DevOps &amp; Core Components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836AE-FDA0-3F2A-4CF6-33862DC32FE3}"/>
              </a:ext>
            </a:extLst>
          </p:cNvPr>
          <p:cNvSpPr txBox="1"/>
          <p:nvPr/>
        </p:nvSpPr>
        <p:spPr>
          <a:xfrm>
            <a:off x="629263" y="3540545"/>
            <a:ext cx="91440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DevOps = Cultural + Technical bridge 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 Dev and Ops</a:t>
            </a:r>
          </a:p>
          <a:p>
            <a:pPr algn="l"/>
            <a:endParaRPr lang="en-US" sz="2000" b="0" i="0" u="none" strike="noStrike" baseline="0" dirty="0">
              <a:solidFill>
                <a:srgbClr val="3237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pillars: 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CI/CD pipelines, Automated monitoring, 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 loops</a:t>
            </a:r>
          </a:p>
          <a:p>
            <a:pPr algn="l"/>
            <a:endParaRPr lang="en-US" sz="2000" b="0" i="0" u="none" strike="noStrike" baseline="0" dirty="0">
              <a:solidFill>
                <a:srgbClr val="3237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at scale: </a:t>
            </a:r>
          </a:p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Frequent build failures, high costs, complex testing, limited visibility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D374D-8763-6108-1929-652321CA26EE}"/>
              </a:ext>
            </a:extLst>
          </p:cNvPr>
          <p:cNvSpPr txBox="1"/>
          <p:nvPr/>
        </p:nvSpPr>
        <p:spPr>
          <a:xfrm>
            <a:off x="629263" y="29673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points: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blue and white diagram&#10;&#10;AI-generated content may be incorrect.">
            <a:extLst>
              <a:ext uri="{FF2B5EF4-FFF2-40B4-BE49-F238E27FC236}">
                <a16:creationId xmlns:a16="http://schemas.microsoft.com/office/drawing/2014/main" id="{85234719-AC9B-C3AB-900E-E9E9AB33A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301" y="2714468"/>
            <a:ext cx="4548872" cy="255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4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D96040-4C9F-EEED-E2D1-0BF936474DA3}"/>
              </a:ext>
            </a:extLst>
          </p:cNvPr>
          <p:cNvSpPr txBox="1"/>
          <p:nvPr/>
        </p:nvSpPr>
        <p:spPr>
          <a:xfrm>
            <a:off x="609600" y="1850611"/>
            <a:ext cx="8396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History of AI in DevOps</a:t>
            </a:r>
            <a:endParaRPr lang="en-US" sz="4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4AC21-04D4-310C-1132-B6219A242F95}"/>
              </a:ext>
            </a:extLst>
          </p:cNvPr>
          <p:cNvSpPr txBox="1"/>
          <p:nvPr/>
        </p:nvSpPr>
        <p:spPr>
          <a:xfrm>
            <a:off x="609600" y="3552111"/>
            <a:ext cx="74233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2010s → Basic ML for log analysis &amp; anomaly detection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FAA1E-CA18-AFC2-D9CF-859143EE0B13}"/>
              </a:ext>
            </a:extLst>
          </p:cNvPr>
          <p:cNvSpPr txBox="1"/>
          <p:nvPr/>
        </p:nvSpPr>
        <p:spPr>
          <a:xfrm>
            <a:off x="609600" y="403352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2010s → Deep Learning on commit histories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55980-75C8-5A6B-D58C-3920711EE4D3}"/>
              </a:ext>
            </a:extLst>
          </p:cNvPr>
          <p:cNvSpPr txBox="1"/>
          <p:nvPr/>
        </p:nvSpPr>
        <p:spPr>
          <a:xfrm>
            <a:off x="609600" y="4514948"/>
            <a:ext cx="68924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~2020 → Rise of LLMs for log analysis &amp; MTTR reduction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98EF3-A344-FC5F-F801-A7CBAFA3562C}"/>
              </a:ext>
            </a:extLst>
          </p:cNvPr>
          <p:cNvSpPr txBox="1"/>
          <p:nvPr/>
        </p:nvSpPr>
        <p:spPr>
          <a:xfrm>
            <a:off x="609600" y="4947256"/>
            <a:ext cx="8101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 (2025) → AIOps widely adopted (GitLab, Dynatrace, Splunk)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04069-6A65-6F8F-6112-6E5FF0A6D0C3}"/>
              </a:ext>
            </a:extLst>
          </p:cNvPr>
          <p:cNvSpPr txBox="1"/>
          <p:nvPr/>
        </p:nvSpPr>
        <p:spPr>
          <a:xfrm>
            <a:off x="609600" y="296297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32373F"/>
                </a:solidFill>
                <a:latin typeface="AvenirNext-Regular"/>
              </a:rPr>
              <a:t>Timeline: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3598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869F62-2530-76C8-4D70-F73555DC51E6}"/>
              </a:ext>
            </a:extLst>
          </p:cNvPr>
          <p:cNvSpPr txBox="1"/>
          <p:nvPr/>
        </p:nvSpPr>
        <p:spPr>
          <a:xfrm>
            <a:off x="747251" y="1909605"/>
            <a:ext cx="73643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Makes This Review Different?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33E72-9F03-F85C-B851-762231FCF873}"/>
              </a:ext>
            </a:extLst>
          </p:cNvPr>
          <p:cNvSpPr txBox="1"/>
          <p:nvPr/>
        </p:nvSpPr>
        <p:spPr>
          <a:xfrm>
            <a:off x="747251" y="2755846"/>
            <a:ext cx="8268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 reviews </a:t>
            </a:r>
            <a:r>
              <a:rPr lang="en-US" sz="200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27B61-9F0E-DA93-1441-472FFDE82335}"/>
              </a:ext>
            </a:extLst>
          </p:cNvPr>
          <p:cNvSpPr txBox="1"/>
          <p:nvPr/>
        </p:nvSpPr>
        <p:spPr>
          <a:xfrm>
            <a:off x="747251" y="3719210"/>
            <a:ext cx="7452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paper  →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A8819-8EF0-C04F-BCEB-2FC3F34A3B5E}"/>
              </a:ext>
            </a:extLst>
          </p:cNvPr>
          <p:cNvSpPr txBox="1"/>
          <p:nvPr/>
        </p:nvSpPr>
        <p:spPr>
          <a:xfrm>
            <a:off x="747251" y="4119320"/>
            <a:ext cx="65482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Systematic (2020–2025) </a:t>
            </a:r>
          </a:p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Covers all 3 pillars</a:t>
            </a:r>
          </a:p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Analytical comparison + Real-world GitLab CI/CD case study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DEB89F-35B1-556E-31FF-A6E5E5FA89D9}"/>
              </a:ext>
            </a:extLst>
          </p:cNvPr>
          <p:cNvSpPr txBox="1"/>
          <p:nvPr/>
        </p:nvSpPr>
        <p:spPr>
          <a:xfrm>
            <a:off x="747251" y="31498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Narrow focus (only monitoring or only prediction)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0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2A8B08-67DB-F3A2-1156-05BCC96A2E24}"/>
              </a:ext>
            </a:extLst>
          </p:cNvPr>
          <p:cNvSpPr txBox="1"/>
          <p:nvPr/>
        </p:nvSpPr>
        <p:spPr>
          <a:xfrm>
            <a:off x="629264" y="1712959"/>
            <a:ext cx="10943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 – Simplified Systematic Literature Review (SLR)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2C140C-9108-881E-4BC7-FC699F937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904548"/>
              </p:ext>
            </p:extLst>
          </p:nvPr>
        </p:nvGraphicFramePr>
        <p:xfrm>
          <a:off x="629264" y="2612704"/>
          <a:ext cx="9291484" cy="37880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61463">
                  <a:extLst>
                    <a:ext uri="{9D8B030D-6E8A-4147-A177-3AD203B41FA5}">
                      <a16:colId xmlns:a16="http://schemas.microsoft.com/office/drawing/2014/main" val="3716549263"/>
                    </a:ext>
                  </a:extLst>
                </a:gridCol>
                <a:gridCol w="7130021">
                  <a:extLst>
                    <a:ext uri="{9D8B030D-6E8A-4147-A177-3AD203B41FA5}">
                      <a16:colId xmlns:a16="http://schemas.microsoft.com/office/drawing/2014/main" val="3325574311"/>
                    </a:ext>
                  </a:extLst>
                </a:gridCol>
              </a:tblGrid>
              <a:tr h="480524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trike="noStrike" kern="1200" baseline="0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trike="noStrike" kern="1200" baseline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746369"/>
                  </a:ext>
                </a:extLst>
              </a:tr>
              <a:tr h="849508"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strike="noStrike" kern="1200" baseline="0" dirty="0">
                          <a:solidFill>
                            <a:schemeClr val="dk1"/>
                          </a:solidFill>
                        </a:rPr>
                        <a:t>Overview</a:t>
                      </a:r>
                      <a:endParaRPr lang="en-US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</a:rPr>
                        <a:t>Simplified SLR to explore AI in DevOps (AIOps) from 2020–2025</a:t>
                      </a:r>
                    </a:p>
                    <a:p>
                      <a:pPr algn="ctr"/>
                      <a:r>
                        <a:rPr lang="fr-FR" sz="1400" b="0" u="none" strike="noStrike" kern="1200" baseline="0" dirty="0">
                          <a:solidFill>
                            <a:schemeClr val="dk1"/>
                          </a:solidFill>
                        </a:rPr>
                        <a:t>Focus: CI/CD automation, monitoring, </a:t>
                      </a:r>
                      <a:r>
                        <a:rPr lang="fr-FR" sz="1400" b="0" u="none" strike="noStrike" kern="1200" baseline="0" dirty="0" err="1">
                          <a:solidFill>
                            <a:schemeClr val="dk1"/>
                          </a:solidFill>
                        </a:rPr>
                        <a:t>fault</a:t>
                      </a:r>
                      <a:r>
                        <a:rPr lang="fr-FR" sz="1400" b="0" u="none" strike="noStrike" kern="12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fr-FR" sz="1400" b="0" u="none" strike="noStrike" kern="1200" baseline="0" dirty="0" err="1">
                          <a:solidFill>
                            <a:schemeClr val="dk1"/>
                          </a:solidFill>
                        </a:rPr>
                        <a:t>prediction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800903"/>
                  </a:ext>
                </a:extLst>
              </a:tr>
              <a:tr h="1094138"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strike="noStrike" kern="1200" baseline="0" dirty="0">
                          <a:solidFill>
                            <a:schemeClr val="dk1"/>
                          </a:solidFill>
                        </a:rPr>
                        <a:t>Search Method</a:t>
                      </a:r>
                      <a:endParaRPr lang="en-US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</a:rPr>
                        <a:t>Sources: Google Scholar + accessible databases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</a:rPr>
                        <a:t>Keywords: “AI in DevOps”, “AIOps”, “CI/CD automation”, “anomaly detection”,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</a:rPr>
                        <a:t> “failure prediction”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</a:rPr>
                        <a:t>Added: GitLab, Dynatrace, Splunk industrial reports &amp; blogs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090013"/>
                  </a:ext>
                </a:extLst>
              </a:tr>
              <a:tr h="691035"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strike="noStrike" kern="1200" baseline="0" dirty="0">
                          <a:solidFill>
                            <a:schemeClr val="dk1"/>
                          </a:solidFill>
                        </a:rPr>
                        <a:t>Data Extraction &amp; Analysis</a:t>
                      </a:r>
                      <a:endParaRPr lang="en-US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</a:rPr>
                        <a:t>Extracted: Title, Year, AI method, DevOps area, Key </a:t>
                      </a:r>
                      <a:r>
                        <a:rPr lang="en-US" sz="1400" b="0" u="none" strike="noStrike" kern="1200" baseline="0" dirty="0" err="1">
                          <a:solidFill>
                            <a:schemeClr val="dk1"/>
                          </a:solidFill>
                        </a:rPr>
                        <a:t>findingsQualitative</a:t>
                      </a:r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</a:rPr>
                        <a:t> &amp; descriptive analysis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</a:rPr>
                        <a:t>Compared approaches, identified patterns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706402"/>
                  </a:ext>
                </a:extLst>
              </a:tr>
              <a:tr h="672891">
                <a:tc>
                  <a:txBody>
                    <a:bodyPr/>
                    <a:lstStyle/>
                    <a:p>
                      <a:pPr algn="ctr"/>
                      <a:r>
                        <a:rPr lang="en-US" sz="1600" b="0" u="none" strike="noStrike" kern="1200" baseline="0" dirty="0">
                          <a:solidFill>
                            <a:schemeClr val="dk1"/>
                          </a:solidFill>
                        </a:rPr>
                        <a:t>Limitations</a:t>
                      </a:r>
                      <a:endParaRPr lang="en-US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</a:rPr>
                        <a:t>Not exhaustive; limited to major databases + selected reports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</a:rPr>
                        <a:t>Still provides clear, balanced overview of AIOps trends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726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11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F90773-0EE2-3CC3-EA5E-255B403EB56D}"/>
              </a:ext>
            </a:extLst>
          </p:cNvPr>
          <p:cNvSpPr txBox="1"/>
          <p:nvPr/>
        </p:nvSpPr>
        <p:spPr>
          <a:xfrm>
            <a:off x="491612" y="1457320"/>
            <a:ext cx="77281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in DevOps – Key Areas Explored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C34D41-31D2-2883-22D3-9C1B78902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68198"/>
              </p:ext>
            </p:extLst>
          </p:nvPr>
        </p:nvGraphicFramePr>
        <p:xfrm>
          <a:off x="491612" y="2212258"/>
          <a:ext cx="10176388" cy="43261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82059">
                  <a:extLst>
                    <a:ext uri="{9D8B030D-6E8A-4147-A177-3AD203B41FA5}">
                      <a16:colId xmlns:a16="http://schemas.microsoft.com/office/drawing/2014/main" val="1055644812"/>
                    </a:ext>
                  </a:extLst>
                </a:gridCol>
                <a:gridCol w="2649547">
                  <a:extLst>
                    <a:ext uri="{9D8B030D-6E8A-4147-A177-3AD203B41FA5}">
                      <a16:colId xmlns:a16="http://schemas.microsoft.com/office/drawing/2014/main" val="3525088358"/>
                    </a:ext>
                  </a:extLst>
                </a:gridCol>
                <a:gridCol w="2875725">
                  <a:extLst>
                    <a:ext uri="{9D8B030D-6E8A-4147-A177-3AD203B41FA5}">
                      <a16:colId xmlns:a16="http://schemas.microsoft.com/office/drawing/2014/main" val="1711813029"/>
                    </a:ext>
                  </a:extLst>
                </a:gridCol>
                <a:gridCol w="2469057">
                  <a:extLst>
                    <a:ext uri="{9D8B030D-6E8A-4147-A177-3AD203B41FA5}">
                      <a16:colId xmlns:a16="http://schemas.microsoft.com/office/drawing/2014/main" val="2574093861"/>
                    </a:ext>
                  </a:extLst>
                </a:gridCol>
              </a:tblGrid>
              <a:tr h="500804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strike="noStrike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Area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strike="noStrike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Techniques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strike="noStrike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Strengths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strike="noStrike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450054"/>
                  </a:ext>
                </a:extLst>
              </a:tr>
              <a:tr h="1240014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in CI/CD Automation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</a:t>
                      </a:r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</a:t>
                      </a:r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Predict build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failures from commits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</a:t>
                      </a:r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LLMs</a:t>
                      </a:r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Log analysis,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classification, fix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suggestions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Prevents up to 30% of failed builds</a:t>
                      </a: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Reduces MTTR by 40 – 60%</a:t>
                      </a: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GitLab: +20 – 25% success rate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Needs </a:t>
                      </a:r>
                      <a:r>
                        <a:rPr lang="en-US" sz="1200" b="0" u="none" strike="noStrike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projectspecific</a:t>
                      </a:r>
                      <a:endParaRPr lang="en-US" sz="1200" b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High integration</a:t>
                      </a: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Labeled data</a:t>
                      </a: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scarce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457647"/>
                  </a:ext>
                </a:extLst>
              </a:tr>
              <a:tr h="1311913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in Monitoring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</a:t>
                      </a:r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DL</a:t>
                      </a:r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Time-series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anomaly detection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Clustering, Multi-agent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(e.g., </a:t>
                      </a:r>
                      <a:r>
                        <a:rPr lang="en-US" sz="1400" b="0" u="none" strike="noStrike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</a:t>
                      </a:r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-Ops)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Real-time detection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Proactive RCA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Enables </a:t>
                      </a:r>
                      <a:r>
                        <a:rPr lang="en-US" sz="1400" b="0" u="none" strike="noStrike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selfhealing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Requires large, clean data</a:t>
                      </a: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Privacy &amp; heterogeneity</a:t>
                      </a: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issues</a:t>
                      </a: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“Black box” → low</a:t>
                      </a: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trust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305981"/>
                  </a:ext>
                </a:extLst>
              </a:tr>
              <a:tr h="1273463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in Error</a:t>
                      </a:r>
                    </a:p>
                    <a:p>
                      <a:pPr algn="ctr"/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Prediction / Fault Detection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Supervised ML: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Classify risky commits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</a:t>
                      </a:r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LLMs</a:t>
                      </a:r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Correlate logs,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recommend fixes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50% MTTR cut in some cases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Prevents downtime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Noisy logs reduce accuracy</a:t>
                      </a: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Automation risks in critical systems</a:t>
                      </a:r>
                    </a:p>
                    <a:p>
                      <a:pPr algn="ctr"/>
                      <a:r>
                        <a:rPr lang="en-US" sz="12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Low explainability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435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69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90F6F8-971C-68D2-9B69-8C3122799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413162"/>
              </p:ext>
            </p:extLst>
          </p:nvPr>
        </p:nvGraphicFramePr>
        <p:xfrm>
          <a:off x="491613" y="2550813"/>
          <a:ext cx="10058400" cy="351999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68129">
                  <a:extLst>
                    <a:ext uri="{9D8B030D-6E8A-4147-A177-3AD203B41FA5}">
                      <a16:colId xmlns:a16="http://schemas.microsoft.com/office/drawing/2014/main" val="873213168"/>
                    </a:ext>
                  </a:extLst>
                </a:gridCol>
                <a:gridCol w="2281084">
                  <a:extLst>
                    <a:ext uri="{9D8B030D-6E8A-4147-A177-3AD203B41FA5}">
                      <a16:colId xmlns:a16="http://schemas.microsoft.com/office/drawing/2014/main" val="1728378594"/>
                    </a:ext>
                  </a:extLst>
                </a:gridCol>
                <a:gridCol w="2222090">
                  <a:extLst>
                    <a:ext uri="{9D8B030D-6E8A-4147-A177-3AD203B41FA5}">
                      <a16:colId xmlns:a16="http://schemas.microsoft.com/office/drawing/2014/main" val="1455938115"/>
                    </a:ext>
                  </a:extLst>
                </a:gridCol>
                <a:gridCol w="2064774">
                  <a:extLst>
                    <a:ext uri="{9D8B030D-6E8A-4147-A177-3AD203B41FA5}">
                      <a16:colId xmlns:a16="http://schemas.microsoft.com/office/drawing/2014/main" val="3616687181"/>
                    </a:ext>
                  </a:extLst>
                </a:gridCol>
                <a:gridCol w="1622323">
                  <a:extLst>
                    <a:ext uri="{9D8B030D-6E8A-4147-A177-3AD203B41FA5}">
                      <a16:colId xmlns:a16="http://schemas.microsoft.com/office/drawing/2014/main" val="3358153419"/>
                    </a:ext>
                  </a:extLst>
                </a:gridCol>
              </a:tblGrid>
              <a:tr h="296285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strike="noStrike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strike="noStrike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Technique/Algorithm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strike="noStrike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Strengths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strike="noStrike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strike="noStrike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3874299"/>
                  </a:ext>
                </a:extLst>
              </a:tr>
              <a:tr h="980290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CI/CD</a:t>
                      </a:r>
                    </a:p>
                    <a:p>
                      <a:pPr algn="ctr"/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Automation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 (e.g., predictive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models), LLMs (log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analysis)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Improved failure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prediction, reduced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MTTR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Projectspecific</a:t>
                      </a:r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dependency, integration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overhead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[4], [5], [8],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[13]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292195"/>
                  </a:ext>
                </a:extLst>
              </a:tr>
              <a:tr h="980290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Monitoring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DL (time-series), Multiagent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u="none" strike="noStrike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</a:t>
                      </a:r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-Ops)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Accurate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anomaly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detection,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self-healing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scarcity,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explainability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gaps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[3], [6], [9],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[14]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389267"/>
                  </a:ext>
                </a:extLst>
              </a:tr>
              <a:tr h="980290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Prediction /</a:t>
                      </a:r>
                    </a:p>
                    <a:p>
                      <a:pPr algn="ctr"/>
                      <a:r>
                        <a:rPr lang="en-US" sz="1400" b="1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Fault Detection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Supervised ML, LLMs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(error classification)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Proactive remediation,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50% MTTR cut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Noisy data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impact,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automation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[4], [5], [6],</a:t>
                      </a:r>
                    </a:p>
                    <a:p>
                      <a:pPr algn="ctr"/>
                      <a:r>
                        <a:rPr lang="en-US" sz="1400" b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[11]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44114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EF8D0A-94E3-5A04-98AE-C956B517BD5C}"/>
              </a:ext>
            </a:extLst>
          </p:cNvPr>
          <p:cNvSpPr txBox="1"/>
          <p:nvPr/>
        </p:nvSpPr>
        <p:spPr>
          <a:xfrm>
            <a:off x="491613" y="1653966"/>
            <a:ext cx="9773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32373F"/>
                </a:solidFill>
                <a:latin typeface="AvenirNext-Regular"/>
              </a:rPr>
              <a:t>Comparison of AI Techniques Across AIOps Categories </a:t>
            </a:r>
            <a:r>
              <a:rPr lang="en-US" sz="2800" b="1" dirty="0">
                <a:solidFill>
                  <a:srgbClr val="32373F"/>
                </a:solidFill>
                <a:latin typeface="AvenirNext-Regular"/>
              </a:rPr>
              <a:t>(Table1)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8960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12DCB1-94BA-C86E-49C5-B8875D8BDC31}"/>
              </a:ext>
            </a:extLst>
          </p:cNvPr>
          <p:cNvSpPr txBox="1"/>
          <p:nvPr/>
        </p:nvSpPr>
        <p:spPr>
          <a:xfrm>
            <a:off x="521109" y="1663798"/>
            <a:ext cx="91734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Study – GitLab CI/CD with AIOps (Part 1)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FB919-5AC2-73D2-0D82-8F45DB96546B}"/>
              </a:ext>
            </a:extLst>
          </p:cNvPr>
          <p:cNvSpPr txBox="1"/>
          <p:nvPr/>
        </p:nvSpPr>
        <p:spPr>
          <a:xfrm>
            <a:off x="412953" y="3136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GitLab Duo (2023 → GitLab 18, May 2025)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625E0-D33B-51D5-135E-18F76C7D814C}"/>
              </a:ext>
            </a:extLst>
          </p:cNvPr>
          <p:cNvSpPr txBox="1"/>
          <p:nvPr/>
        </p:nvSpPr>
        <p:spPr>
          <a:xfrm>
            <a:off x="412953" y="4271502"/>
            <a:ext cx="8917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AI Features: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0BA6C-2468-35C3-3527-018AB7D8B51E}"/>
              </a:ext>
            </a:extLst>
          </p:cNvPr>
          <p:cNvSpPr txBox="1"/>
          <p:nvPr/>
        </p:nvSpPr>
        <p:spPr>
          <a:xfrm>
            <a:off x="412953" y="4791014"/>
            <a:ext cx="79149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predicts build failures from commits (prevents ~30%)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 power “Troubleshoot” – parses logs &amp; suggests fixes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runner scaling Auto DevOps with smart retries/rollbacks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Duo Agent Platform (beta 2025) – Multi-agent collaboration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logo of a cat&#10;&#10;AI-generated content may be incorrect.">
            <a:extLst>
              <a:ext uri="{FF2B5EF4-FFF2-40B4-BE49-F238E27FC236}">
                <a16:creationId xmlns:a16="http://schemas.microsoft.com/office/drawing/2014/main" id="{D3F8B6BE-1A2A-04AB-321E-35E3612EF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950" y="2593872"/>
            <a:ext cx="3919557" cy="205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3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74FC10-6B2A-2762-D2C2-9EECCA752F7E}"/>
              </a:ext>
            </a:extLst>
          </p:cNvPr>
          <p:cNvSpPr txBox="1"/>
          <p:nvPr/>
        </p:nvSpPr>
        <p:spPr>
          <a:xfrm>
            <a:off x="550606" y="1811282"/>
            <a:ext cx="70595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32373F"/>
                </a:solidFill>
                <a:latin typeface="AvenirNext-Regular"/>
              </a:rPr>
              <a:t>Case Study – Real-World Impact (Part 2)</a:t>
            </a:r>
            <a:endParaRPr lang="en-US" sz="32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FFF435-2B96-D6B5-21AE-F58091F54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743211"/>
              </p:ext>
            </p:extLst>
          </p:nvPr>
        </p:nvGraphicFramePr>
        <p:xfrm>
          <a:off x="698090" y="2798671"/>
          <a:ext cx="9517625" cy="33265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3525">
                  <a:extLst>
                    <a:ext uri="{9D8B030D-6E8A-4147-A177-3AD203B41FA5}">
                      <a16:colId xmlns:a16="http://schemas.microsoft.com/office/drawing/2014/main" val="3943925698"/>
                    </a:ext>
                  </a:extLst>
                </a:gridCol>
                <a:gridCol w="1903525">
                  <a:extLst>
                    <a:ext uri="{9D8B030D-6E8A-4147-A177-3AD203B41FA5}">
                      <a16:colId xmlns:a16="http://schemas.microsoft.com/office/drawing/2014/main" val="271829989"/>
                    </a:ext>
                  </a:extLst>
                </a:gridCol>
                <a:gridCol w="1903525">
                  <a:extLst>
                    <a:ext uri="{9D8B030D-6E8A-4147-A177-3AD203B41FA5}">
                      <a16:colId xmlns:a16="http://schemas.microsoft.com/office/drawing/2014/main" val="2497968021"/>
                    </a:ext>
                  </a:extLst>
                </a:gridCol>
                <a:gridCol w="1903525">
                  <a:extLst>
                    <a:ext uri="{9D8B030D-6E8A-4147-A177-3AD203B41FA5}">
                      <a16:colId xmlns:a16="http://schemas.microsoft.com/office/drawing/2014/main" val="3860172918"/>
                    </a:ext>
                  </a:extLst>
                </a:gridCol>
                <a:gridCol w="1903525">
                  <a:extLst>
                    <a:ext uri="{9D8B030D-6E8A-4147-A177-3AD203B41FA5}">
                      <a16:colId xmlns:a16="http://schemas.microsoft.com/office/drawing/2014/main" val="2356250230"/>
                    </a:ext>
                  </a:extLst>
                </a:gridCol>
              </a:tblGrid>
              <a:tr h="704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Pre-AI Baseline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 GitLab Duo AI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Improvement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51691861"/>
                  </a:ext>
                </a:extLst>
              </a:tr>
              <a:tr h="7177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Pipeline Success Rate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75%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93–100%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+20 –25%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[8], [11]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5789312"/>
                  </a:ext>
                </a:extLst>
              </a:tr>
              <a:tr h="757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MTTR for Failures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 – 60 min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 – 25 min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−50 –60%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[5], [8]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4050370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Deployment Frequency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– 10/week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15–20/week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+30%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[11]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56047267"/>
                  </a:ext>
                </a:extLst>
              </a:tr>
              <a:tr h="4683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Resource Costs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 baseline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65–75%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−25 –35%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92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[9], [11]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9048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801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2EE1C2-23E4-30E7-0CB8-E5A3A12BCCDB}"/>
              </a:ext>
            </a:extLst>
          </p:cNvPr>
          <p:cNvSpPr txBox="1"/>
          <p:nvPr/>
        </p:nvSpPr>
        <p:spPr>
          <a:xfrm>
            <a:off x="560437" y="1752289"/>
            <a:ext cx="90948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32373F"/>
                </a:solidFill>
                <a:latin typeface="AvenirNext-Regular"/>
              </a:rPr>
              <a:t>Case Study – Limitations &amp; Key Takeaways (Part 3)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DE39E-B84A-DC40-468E-8C81C2B503B9}"/>
              </a:ext>
            </a:extLst>
          </p:cNvPr>
          <p:cNvSpPr txBox="1"/>
          <p:nvPr/>
        </p:nvSpPr>
        <p:spPr>
          <a:xfrm>
            <a:off x="560437" y="355128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  <a:r>
              <a:rPr lang="en-US" sz="20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C6DF7C-3665-C406-C221-8766EBCD0128}"/>
              </a:ext>
            </a:extLst>
          </p:cNvPr>
          <p:cNvSpPr txBox="1"/>
          <p:nvPr/>
        </p:nvSpPr>
        <p:spPr>
          <a:xfrm>
            <a:off x="560437" y="4148817"/>
            <a:ext cx="100485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drops 20–30% with noisy/legacy logs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 overhead with non-GitLab tools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Black-box concerns in regulated industries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features require Duo Enterprise ($39/user/</a:t>
            </a:r>
            <a:r>
              <a:rPr lang="en-US" sz="2000" b="0" i="0" u="none" strike="noStrike" baseline="0" dirty="0" err="1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sz="20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10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A41514-302D-7753-4ED2-2A804CFECA69}"/>
              </a:ext>
            </a:extLst>
          </p:cNvPr>
          <p:cNvSpPr txBox="1"/>
          <p:nvPr/>
        </p:nvSpPr>
        <p:spPr>
          <a:xfrm>
            <a:off x="570270" y="1781785"/>
            <a:ext cx="86228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 – Advantages, Challenges &amp; Future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B7793-1BA7-7966-0224-B2D51E6BDC1F}"/>
              </a:ext>
            </a:extLst>
          </p:cNvPr>
          <p:cNvSpPr txBox="1"/>
          <p:nvPr/>
        </p:nvSpPr>
        <p:spPr>
          <a:xfrm>
            <a:off x="570269" y="276667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CEAEA-0627-0A19-C7A9-741974393FA3}"/>
              </a:ext>
            </a:extLst>
          </p:cNvPr>
          <p:cNvSpPr txBox="1"/>
          <p:nvPr/>
        </p:nvSpPr>
        <p:spPr>
          <a:xfrm>
            <a:off x="570269" y="474604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Directions: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64686-B5A6-DA50-E004-5D2F58CEF10A}"/>
              </a:ext>
            </a:extLst>
          </p:cNvPr>
          <p:cNvSpPr txBox="1"/>
          <p:nvPr/>
        </p:nvSpPr>
        <p:spPr>
          <a:xfrm>
            <a:off x="570269" y="5207705"/>
            <a:ext cx="81509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Generative AI for diagnostics &amp; log synthesis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Explainable AI (XAI)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Multi-agent systems (e.g., </a:t>
            </a:r>
            <a:r>
              <a:rPr lang="en-US" sz="1800" b="0" i="0" u="none" strike="noStrike" baseline="0" dirty="0" err="1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-Ops)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</a:t>
            </a:r>
            <a:r>
              <a:rPr lang="en-US" sz="1800" b="0" i="0" u="none" strike="noStrike" baseline="0" dirty="0" err="1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DevSecOps</a:t>
            </a: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-native AIOps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5CCB7E-084C-566D-6FF6-4F64F6846D2C}"/>
              </a:ext>
            </a:extLst>
          </p:cNvPr>
          <p:cNvSpPr txBox="1"/>
          <p:nvPr/>
        </p:nvSpPr>
        <p:spPr>
          <a:xfrm>
            <a:off x="570269" y="3171561"/>
            <a:ext cx="794446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Predictive, automated, self-healing, massive MTTR/cost reduction</a:t>
            </a:r>
          </a:p>
          <a:p>
            <a:pPr algn="l"/>
            <a:endParaRPr lang="en-US" sz="1800" b="0" i="0" u="none" strike="noStrike" baseline="0" dirty="0">
              <a:solidFill>
                <a:srgbClr val="3237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Challenges: </a:t>
            </a:r>
          </a:p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dependency, Explainability, Integration cost, Security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02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1296B3-01BD-D26A-7991-17A5057E35D2}"/>
              </a:ext>
            </a:extLst>
          </p:cNvPr>
          <p:cNvSpPr txBox="1"/>
          <p:nvPr/>
        </p:nvSpPr>
        <p:spPr>
          <a:xfrm>
            <a:off x="747252" y="170312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09FD8-B696-B820-CC90-8CF631431A3C}"/>
              </a:ext>
            </a:extLst>
          </p:cNvPr>
          <p:cNvSpPr txBox="1"/>
          <p:nvPr/>
        </p:nvSpPr>
        <p:spPr>
          <a:xfrm>
            <a:off x="747252" y="2505670"/>
            <a:ext cx="9527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Summary: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84427-BAE2-37BB-6461-CD61A5B2998D}"/>
              </a:ext>
            </a:extLst>
          </p:cNvPr>
          <p:cNvSpPr txBox="1"/>
          <p:nvPr/>
        </p:nvSpPr>
        <p:spPr>
          <a:xfrm>
            <a:off x="747251" y="3833541"/>
            <a:ext cx="9281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Answers to Research Questions: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F72CE-801D-CAC2-7E99-DC394E2755F9}"/>
              </a:ext>
            </a:extLst>
          </p:cNvPr>
          <p:cNvSpPr txBox="1"/>
          <p:nvPr/>
        </p:nvSpPr>
        <p:spPr>
          <a:xfrm>
            <a:off x="747251" y="2968389"/>
            <a:ext cx="89375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(ML, DL, LLMs) significantly enhances all three pillars of modern DevOps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GitLab case study proves real-world impact: +20 – 25% success rate, −50% MTTR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12288-6DC2-AA15-77EC-4CC01FA146DF}"/>
              </a:ext>
            </a:extLst>
          </p:cNvPr>
          <p:cNvSpPr txBox="1"/>
          <p:nvPr/>
        </p:nvSpPr>
        <p:spPr>
          <a:xfrm>
            <a:off x="747251" y="4305110"/>
            <a:ext cx="86818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Dominant </a:t>
            </a:r>
            <a:r>
              <a:rPr lang="fr-FR" sz="1800" b="0" i="0" u="none" strike="noStrike" baseline="0" dirty="0" err="1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  <a:r>
              <a:rPr lang="fr-FR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ML, DL, </a:t>
            </a:r>
            <a:r>
              <a:rPr lang="fr-FR" sz="1800" b="0" i="0" u="none" strike="noStrike" baseline="0" dirty="0" err="1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</a:t>
            </a:r>
            <a:endParaRPr lang="fr-FR" sz="1800" b="0" i="0" u="none" strike="noStrike" baseline="0" dirty="0">
              <a:solidFill>
                <a:srgbClr val="3237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AI improves CI/CD via prediction, log analysis, optimization</a:t>
            </a:r>
          </a:p>
          <a:p>
            <a:pPr algn="l"/>
            <a:r>
              <a:rPr lang="en-US" sz="1800" b="0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Error prediction: Supervised ML + LLMs → up to 50% MTTR reduction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D290E7-1CA1-61D7-59DD-9C6C7FA810BA}"/>
              </a:ext>
            </a:extLst>
          </p:cNvPr>
          <p:cNvSpPr txBox="1"/>
          <p:nvPr/>
        </p:nvSpPr>
        <p:spPr>
          <a:xfrm>
            <a:off x="747251" y="5338014"/>
            <a:ext cx="9350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32373F"/>
                </a:solidFill>
                <a:latin typeface="AvenirNext-Regular"/>
              </a:rPr>
              <a:t>Final line: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2BDD95-E1D5-D002-3EB9-CBF50B5FE635}"/>
              </a:ext>
            </a:extLst>
          </p:cNvPr>
          <p:cNvSpPr txBox="1"/>
          <p:nvPr/>
        </p:nvSpPr>
        <p:spPr>
          <a:xfrm>
            <a:off x="712837" y="57996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32373F"/>
                </a:solidFill>
                <a:latin typeface="AvenirNext-Regular"/>
              </a:rPr>
              <a:t>“AIOps is not the future — it is the present of intelligent software delivery.”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56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73C1DB-9480-4680-AC76-4C7DAE8F607E}"/>
              </a:ext>
            </a:extLst>
          </p:cNvPr>
          <p:cNvSpPr txBox="1"/>
          <p:nvPr/>
        </p:nvSpPr>
        <p:spPr>
          <a:xfrm>
            <a:off x="747251" y="18899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A6D34-9D3C-7F20-ABB6-CB00A5F660FE}"/>
              </a:ext>
            </a:extLst>
          </p:cNvPr>
          <p:cNvSpPr txBox="1"/>
          <p:nvPr/>
        </p:nvSpPr>
        <p:spPr>
          <a:xfrm>
            <a:off x="747251" y="5122209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Contact:</a:t>
            </a:r>
          </a:p>
          <a:p>
            <a:r>
              <a:rPr lang="en-US" sz="2000" u="sng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alishahnazi83@gmail.com</a:t>
            </a:r>
            <a:endParaRPr lang="en-US" sz="2000" b="0" i="0" u="sng" strike="noStrike" baseline="0" dirty="0">
              <a:solidFill>
                <a:srgbClr val="3237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u="sng" strike="noStrike" baseline="0" dirty="0">
                <a:solidFill>
                  <a:srgbClr val="3237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nimanikrouz@gmail.com</a:t>
            </a:r>
          </a:p>
          <a:p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seyeddanesh@guilan.ac.ir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686E7-BC00-36DD-D0DE-D451DFBA86A4}"/>
              </a:ext>
            </a:extLst>
          </p:cNvPr>
          <p:cNvSpPr txBox="1"/>
          <p:nvPr/>
        </p:nvSpPr>
        <p:spPr>
          <a:xfrm>
            <a:off x="4719484" y="342900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49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558</TotalTime>
  <Words>1215</Words>
  <Application>Microsoft Macintosh PowerPoint</Application>
  <PresentationFormat>Widescreen</PresentationFormat>
  <Paragraphs>221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AvenirNext-Regular</vt:lpstr>
      <vt:lpstr>B Mitra</vt:lpstr>
      <vt:lpstr>B Nazanin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Nima Nikrouz</cp:lastModifiedBy>
  <cp:revision>24</cp:revision>
  <dcterms:created xsi:type="dcterms:W3CDTF">2024-01-26T15:58:59Z</dcterms:created>
  <dcterms:modified xsi:type="dcterms:W3CDTF">2025-11-17T14:23:12Z</dcterms:modified>
</cp:coreProperties>
</file>