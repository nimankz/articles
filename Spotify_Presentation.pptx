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9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10A67AE-940F-4A75-B44E-DD2C434AFB8E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B9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7"/>
    <p:restoredTop sz="94692"/>
  </p:normalViewPr>
  <p:slideViewPr>
    <p:cSldViewPr snapToGrid="0">
      <p:cViewPr varScale="1">
        <p:scale>
          <a:sx n="106" d="100"/>
          <a:sy n="106" d="100"/>
        </p:scale>
        <p:origin x="5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A564BB-CCC4-4092-9609-B8EA18F80AE9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3A690F-7F79-453E-83D3-1F50099120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201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3A690F-7F79-453E-83D3-1F500991201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2083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3A690F-7F79-453E-83D3-1F500991201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535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3645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 rot="10800000">
            <a:off x="9755186" y="1283750"/>
            <a:ext cx="2436813" cy="5574249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B0E9022C-1887-E6AB-F25E-E82072D7425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0"/>
            <a:ext cx="12192000" cy="12837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3947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alishahnazi83@gmail.com" TargetMode="External"/><Relationship Id="rId2" Type="http://schemas.openxmlformats.org/officeDocument/2006/relationships/hyperlink" Target="mailto:nimanikrouz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28A17-9FE5-7F86-1A2C-29C4A55088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110" y="1494504"/>
            <a:ext cx="10510684" cy="2020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  <a:scene3d>
              <a:camera prst="orthographicFront"/>
              <a:lightRig rig="threePt" dir="t"/>
            </a:scene3d>
            <a:sp3d extrusionH="57150">
              <a:bevelT w="50800" h="38100" prst="riblet"/>
            </a:sp3d>
          </a:bodyPr>
          <a:lstStyle>
            <a:lvl1pPr algn="ctr" rtl="1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 i="0" kern="1200" baseline="0">
                <a:solidFill>
                  <a:schemeClr val="bg1"/>
                </a:solidFill>
                <a:latin typeface="Arial Black" panose="020B0A04020102020204" pitchFamily="34" charset="0"/>
                <a:ea typeface="+mj-ea"/>
                <a:cs typeface="B Titr" panose="00000700000000000000" pitchFamily="2" charset="-78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cs typeface="B Nazanin" panose="00000400000000000000" pitchFamily="2" charset="-78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cs typeface="B Nazanin" panose="00000400000000000000" pitchFamily="2" charset="-78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cs typeface="B Nazanin" panose="00000400000000000000" pitchFamily="2" charset="-78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cs typeface="B Nazanin" panose="00000400000000000000" pitchFamily="2" charset="-78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5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Spotify’s Recommendation Algorithms Power Personalized Playlists: A Comparative Analysis with YouTube Music and Pandora. </a:t>
            </a:r>
            <a:endParaRPr kumimoji="0" lang="en-US" altLang="en-US" sz="3500" i="0" u="none" strike="noStrike" kern="1200" normalizeH="0" baseline="0" noProof="0" dirty="0">
              <a:ln w="10160">
                <a:noFill/>
                <a:prstDash val="solid"/>
              </a:ln>
              <a:solidFill>
                <a:schemeClr val="tx2">
                  <a:lumMod val="90000"/>
                  <a:lumOff val="10000"/>
                </a:schemeClr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D89814-F4BA-D131-D817-362954E730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7050" y="3711776"/>
            <a:ext cx="8464550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rtl="1" fontAlgn="base"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fa-IR" altLang="en-US" sz="1800" b="1" dirty="0">
                <a:cs typeface="B Nazanin" panose="00000400000000000000" pitchFamily="2" charset="-78"/>
              </a:rPr>
              <a:t>کد مقاله: </a:t>
            </a:r>
            <a:r>
              <a:rPr lang="en-US" altLang="en-US" sz="1800" b="1" dirty="0">
                <a:cs typeface="B Mitra" panose="00000400000000000000" pitchFamily="2" charset="-78"/>
              </a:rPr>
              <a:t>csc - 1213</a:t>
            </a:r>
            <a:r>
              <a:rPr lang="fa-IR" altLang="en-US" sz="1800" b="1" dirty="0">
                <a:cs typeface="B Mitra" panose="00000400000000000000" pitchFamily="2" charset="-78"/>
              </a:rPr>
              <a:t> </a:t>
            </a:r>
            <a:endParaRPr lang="en-US" altLang="en-US" sz="1800" b="1" dirty="0">
              <a:cs typeface="B Mitra" panose="00000400000000000000" pitchFamily="2" charset="-78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728EF2E-1A89-FC9A-8DEB-080252808C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110" y="4618814"/>
            <a:ext cx="10276430" cy="148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/>
          </a:bodyPr>
          <a:lstStyle>
            <a:lvl1pPr marL="0" indent="0" algn="ctr" rtl="1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1" i="0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B Mitra" panose="00000400000000000000" pitchFamily="2" charset="-78"/>
              </a:defRPr>
            </a:lvl1pPr>
            <a:lvl2pPr marL="4572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Nima </a:t>
            </a:r>
            <a:r>
              <a:rPr lang="en-US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Nikrouz</a:t>
            </a:r>
            <a:r>
              <a:rPr lang="en-US" sz="16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Department of Computer Engineering, University of </a:t>
            </a:r>
            <a:r>
              <a:rPr lang="en-US" sz="1600" b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Guilan</a:t>
            </a:r>
            <a:r>
              <a:rPr lang="en-US" sz="16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600" b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Guilan</a:t>
            </a:r>
            <a:r>
              <a:rPr lang="en-US" sz="16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Iran: </a:t>
            </a:r>
            <a:r>
              <a:rPr lang="en-US" sz="16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nimanikrouz@gmail.com</a:t>
            </a:r>
            <a:endParaRPr lang="en-US" sz="16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 Shahnazi</a:t>
            </a:r>
            <a:r>
              <a:rPr lang="en-US" sz="16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Department of Computer Engineering, University of </a:t>
            </a:r>
            <a:r>
              <a:rPr lang="en-US" sz="1600" b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Guilan</a:t>
            </a:r>
            <a:r>
              <a:rPr lang="en-US" sz="16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600" b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Guilan</a:t>
            </a:r>
            <a:r>
              <a:rPr lang="en-US" sz="16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Iran: </a:t>
            </a:r>
            <a:r>
              <a:rPr lang="en-US" sz="16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alishahnazi83@gmail.com</a:t>
            </a:r>
            <a:endParaRPr lang="en-US" sz="16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Abdorreza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Hesam Mohseni</a:t>
            </a:r>
            <a:r>
              <a:rPr lang="en-US" sz="16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University Lecture of Computer Engineering, University of </a:t>
            </a:r>
            <a:r>
              <a:rPr lang="en-US" sz="1600" b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Guilan</a:t>
            </a:r>
            <a:r>
              <a:rPr lang="en-US" sz="16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600" b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Guilan</a:t>
            </a:r>
            <a:r>
              <a:rPr lang="en-US" sz="16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Iran: </a:t>
            </a:r>
            <a:r>
              <a:rPr lang="en-US" sz="1600" b="0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abdorreza.mohseni@alum.sharif.edu   </a:t>
            </a:r>
            <a:endParaRPr kumimoji="0" lang="en-US" altLang="en-US" sz="1600" b="1" i="0" u="sng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7811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86C88-73F6-7AA5-F34D-0F8DF15AE296}"/>
              </a:ext>
            </a:extLst>
          </p:cNvPr>
          <p:cNvSpPr txBox="1"/>
          <p:nvPr/>
        </p:nvSpPr>
        <p:spPr>
          <a:xfrm>
            <a:off x="658761" y="4620316"/>
            <a:ext cx="67842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 </a:t>
            </a:r>
            <a:r>
              <a:rPr lang="en-US" sz="24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0A7485-05DB-CF16-0C7C-873F74DE93B2}"/>
              </a:ext>
            </a:extLst>
          </p:cNvPr>
          <p:cNvSpPr txBox="1"/>
          <p:nvPr/>
        </p:nvSpPr>
        <p:spPr>
          <a:xfrm>
            <a:off x="658761" y="1693295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0" u="none" strike="noStrike" baseline="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Agenda</a:t>
            </a:r>
            <a:endParaRPr lang="en-US" sz="3200" dirty="0">
              <a:solidFill>
                <a:schemeClr val="tx2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0CDB9A-A3F5-84B9-5F0E-4049D633834F}"/>
              </a:ext>
            </a:extLst>
          </p:cNvPr>
          <p:cNvSpPr txBox="1"/>
          <p:nvPr/>
        </p:nvSpPr>
        <p:spPr>
          <a:xfrm>
            <a:off x="658761" y="267818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en-US" sz="24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Research Focus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CD7AF8-2591-E297-547F-C61160491448}"/>
              </a:ext>
            </a:extLst>
          </p:cNvPr>
          <p:cNvSpPr txBox="1"/>
          <p:nvPr/>
        </p:nvSpPr>
        <p:spPr>
          <a:xfrm>
            <a:off x="658761" y="3037904"/>
            <a:ext cx="77674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n-US" sz="24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Background: Recommendation Algorithms (3 Parts)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5A19EB-21BE-2F9D-92FE-D321EBC0CB90}"/>
              </a:ext>
            </a:extLst>
          </p:cNvPr>
          <p:cNvSpPr txBox="1"/>
          <p:nvPr/>
        </p:nvSpPr>
        <p:spPr>
          <a:xfrm>
            <a:off x="658761" y="3429000"/>
            <a:ext cx="67842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en-US" sz="24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Spotify’s System: Strengths &amp; Weaknesses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336C1D-5670-368E-0307-72B26D73808D}"/>
              </a:ext>
            </a:extLst>
          </p:cNvPr>
          <p:cNvSpPr txBox="1"/>
          <p:nvPr/>
        </p:nvSpPr>
        <p:spPr>
          <a:xfrm>
            <a:off x="658761" y="382911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</a:t>
            </a:r>
            <a:r>
              <a:rPr lang="en-US" sz="24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Comparisons: YouTube Music &amp;</a:t>
            </a:r>
            <a:r>
              <a:rPr lang="en-US" sz="240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Pandora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775B37-4660-379A-5FF3-A97E8B9590B5}"/>
              </a:ext>
            </a:extLst>
          </p:cNvPr>
          <p:cNvSpPr txBox="1"/>
          <p:nvPr/>
        </p:nvSpPr>
        <p:spPr>
          <a:xfrm>
            <a:off x="658761" y="4220206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</a:t>
            </a:r>
            <a:r>
              <a:rPr lang="en-US" sz="24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Improvements</a:t>
            </a:r>
          </a:p>
        </p:txBody>
      </p:sp>
    </p:spTree>
    <p:extLst>
      <p:ext uri="{BB962C8B-B14F-4D97-AF65-F5344CB8AC3E}">
        <p14:creationId xmlns:p14="http://schemas.microsoft.com/office/powerpoint/2010/main" val="3957029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C5AFEC-0043-A2C7-F232-388392526EEE}"/>
              </a:ext>
            </a:extLst>
          </p:cNvPr>
          <p:cNvSpPr txBox="1"/>
          <p:nvPr/>
        </p:nvSpPr>
        <p:spPr>
          <a:xfrm>
            <a:off x="442452" y="1690752"/>
            <a:ext cx="96454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i="0" u="none" strike="noStrike" baseline="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Research Focus – What This Study</a:t>
            </a:r>
            <a:r>
              <a:rPr lang="en-US" sz="3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i="0" u="none" strike="noStrike" baseline="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Investigates</a:t>
            </a:r>
            <a:endParaRPr lang="en-US" sz="3200" dirty="0">
              <a:solidFill>
                <a:schemeClr val="tx2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27CB16-0871-B232-439E-6172D3B2A89F}"/>
              </a:ext>
            </a:extLst>
          </p:cNvPr>
          <p:cNvSpPr txBox="1"/>
          <p:nvPr/>
        </p:nvSpPr>
        <p:spPr>
          <a:xfrm>
            <a:off x="406904" y="4451376"/>
            <a:ext cx="889819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1800" b="1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Strengths</a:t>
            </a:r>
            <a:r>
              <a:rPr lang="en-US" sz="18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85% accuracy, 2.3 billion streams/year</a:t>
            </a:r>
          </a:p>
          <a:p>
            <a:pPr algn="l"/>
            <a:r>
              <a:rPr lang="en-US" sz="18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1800" b="1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Weaknesses</a:t>
            </a:r>
            <a:r>
              <a:rPr lang="en-US" sz="18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Shuffle bias, cold-start, low diversity</a:t>
            </a:r>
          </a:p>
          <a:p>
            <a:pPr algn="l"/>
            <a:r>
              <a:rPr lang="en-US" sz="18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1800" b="1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Comparisons</a:t>
            </a:r>
            <a:r>
              <a:rPr lang="en-US" sz="18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YouTube (video-based) vs. Pandora (attribute-based)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9314E1-5388-38B9-1BBA-0215C162032E}"/>
              </a:ext>
            </a:extLst>
          </p:cNvPr>
          <p:cNvSpPr txBox="1"/>
          <p:nvPr/>
        </p:nvSpPr>
        <p:spPr>
          <a:xfrm>
            <a:off x="442451" y="3044238"/>
            <a:ext cx="104399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does Spotify’s </a:t>
            </a:r>
            <a:r>
              <a:rPr lang="en-US" sz="1800" b="1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hybrid system </a:t>
            </a:r>
            <a:r>
              <a:rPr lang="en-US" sz="18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(Collaborative + Content + NLP) drive </a:t>
            </a:r>
            <a:r>
              <a:rPr lang="en-US" sz="1800" b="1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70% of all listening </a:t>
            </a:r>
            <a:r>
              <a:rPr lang="en-US" sz="18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but still have </a:t>
            </a:r>
            <a:r>
              <a:rPr lang="en-US" sz="1800" b="1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60% repetition </a:t>
            </a:r>
            <a:r>
              <a:rPr lang="en-US" sz="18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1800" b="1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40% echo chambers</a:t>
            </a:r>
            <a:r>
              <a:rPr lang="en-US" sz="18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3C7781-28B3-67E3-E63A-6DFAF6337043}"/>
              </a:ext>
            </a:extLst>
          </p:cNvPr>
          <p:cNvSpPr txBox="1"/>
          <p:nvPr/>
        </p:nvSpPr>
        <p:spPr>
          <a:xfrm>
            <a:off x="406904" y="2582573"/>
            <a:ext cx="88626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 Question</a:t>
            </a:r>
            <a:r>
              <a:rPr lang="en-US" sz="24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8CAF7D-23C7-D092-86CF-63BF6B0D82E7}"/>
              </a:ext>
            </a:extLst>
          </p:cNvPr>
          <p:cNvSpPr txBox="1"/>
          <p:nvPr/>
        </p:nvSpPr>
        <p:spPr>
          <a:xfrm>
            <a:off x="442451" y="3944088"/>
            <a:ext cx="77084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Study</a:t>
            </a:r>
            <a:r>
              <a:rPr lang="en-US" sz="24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679E6C-51AF-8966-A48F-9CEFDE737411}"/>
              </a:ext>
            </a:extLst>
          </p:cNvPr>
          <p:cNvSpPr txBox="1"/>
          <p:nvPr/>
        </p:nvSpPr>
        <p:spPr>
          <a:xfrm>
            <a:off x="406904" y="5651161"/>
            <a:ext cx="81509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1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Goal</a:t>
            </a:r>
            <a:r>
              <a:rPr lang="en-US" sz="18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Propose </a:t>
            </a:r>
            <a:r>
              <a:rPr lang="en-US" sz="1800" b="1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mood-aware filtering</a:t>
            </a:r>
            <a:r>
              <a:rPr lang="en-US" sz="18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b="1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shuffle control</a:t>
            </a:r>
            <a:r>
              <a:rPr lang="en-US" sz="18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sz="1800" b="1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niche artist promotion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9846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2A59F6-F448-5838-5521-F65CABF85DB8}"/>
              </a:ext>
            </a:extLst>
          </p:cNvPr>
          <p:cNvSpPr txBox="1"/>
          <p:nvPr/>
        </p:nvSpPr>
        <p:spPr>
          <a:xfrm>
            <a:off x="452284" y="1670017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0" u="none" strike="noStrike" baseline="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en-US" sz="3200" dirty="0">
              <a:solidFill>
                <a:schemeClr val="tx2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F9A91B-76FA-3F6B-3A89-60A5D221E745}"/>
              </a:ext>
            </a:extLst>
          </p:cNvPr>
          <p:cNvSpPr txBox="1"/>
          <p:nvPr/>
        </p:nvSpPr>
        <p:spPr>
          <a:xfrm>
            <a:off x="452284" y="4787873"/>
            <a:ext cx="103730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This study compares Spotify with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YouTube Music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Pandora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 find better solutions.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42136C-8850-731F-D644-A6E7325BF367}"/>
              </a:ext>
            </a:extLst>
          </p:cNvPr>
          <p:cNvSpPr txBox="1"/>
          <p:nvPr/>
        </p:nvSpPr>
        <p:spPr>
          <a:xfrm>
            <a:off x="452284" y="2644502"/>
            <a:ext cx="103730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Recommendation systems help users discover music in a world of </a:t>
            </a:r>
            <a:r>
              <a:rPr lang="en-US" sz="2000" b="1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 million + tracks</a:t>
            </a:r>
            <a:r>
              <a:rPr lang="en-US" sz="20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8BB44C-1832-279D-1876-46C606A8C6F3}"/>
              </a:ext>
            </a:extLst>
          </p:cNvPr>
          <p:cNvSpPr txBox="1"/>
          <p:nvPr/>
        </p:nvSpPr>
        <p:spPr>
          <a:xfrm>
            <a:off x="452283" y="3256367"/>
            <a:ext cx="1056967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Spotify uses </a:t>
            </a:r>
            <a:r>
              <a:rPr lang="en-US" sz="2000" b="1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behavior</a:t>
            </a:r>
            <a:r>
              <a:rPr lang="en-US" sz="20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b="1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song audio features</a:t>
            </a:r>
            <a:r>
              <a:rPr lang="en-US" sz="20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sz="2000" b="1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 analysis (NLP) </a:t>
            </a:r>
            <a:r>
              <a:rPr lang="en-US" sz="20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create personalized playlists.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B8489D-2762-2D1C-6A13-42A80193A106}"/>
              </a:ext>
            </a:extLst>
          </p:cNvPr>
          <p:cNvSpPr txBox="1"/>
          <p:nvPr/>
        </p:nvSpPr>
        <p:spPr>
          <a:xfrm>
            <a:off x="452283" y="4176008"/>
            <a:ext cx="107171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leads in personalization but has issues with </a:t>
            </a:r>
            <a:r>
              <a:rPr lang="en-US" sz="2000" b="1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repetitive suggestions </a:t>
            </a:r>
            <a:r>
              <a:rPr lang="en-US" sz="20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2000" b="1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lack of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diversity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02178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0C4DF2C-9CA4-5F30-8CF5-54B9CE2D1B20}"/>
              </a:ext>
            </a:extLst>
          </p:cNvPr>
          <p:cNvSpPr txBox="1"/>
          <p:nvPr/>
        </p:nvSpPr>
        <p:spPr>
          <a:xfrm>
            <a:off x="422787" y="1604842"/>
            <a:ext cx="96651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i="0" u="none" strike="noStrike" baseline="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Collaborative Filtering – “Your Friend’s</a:t>
            </a:r>
            <a:r>
              <a:rPr lang="en-US" sz="3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i="0" u="none" strike="noStrike" baseline="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Playlist”</a:t>
            </a:r>
            <a:endParaRPr lang="en-US" sz="3200" dirty="0">
              <a:solidFill>
                <a:schemeClr val="tx2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E28606-5C1A-66D3-3827-D22697820E6F}"/>
              </a:ext>
            </a:extLst>
          </p:cNvPr>
          <p:cNvSpPr txBox="1"/>
          <p:nvPr/>
        </p:nvSpPr>
        <p:spPr>
          <a:xfrm>
            <a:off x="422789" y="3007512"/>
            <a:ext cx="5348746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2000" b="1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User-based</a:t>
            </a:r>
            <a:r>
              <a:rPr lang="en-US" sz="20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algn="l"/>
            <a:r>
              <a:rPr lang="en-US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like The Beatles → Another user likes The Rolling Stones → </a:t>
            </a:r>
            <a:r>
              <a:rPr lang="en-US" b="1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Recommend Stones</a:t>
            </a:r>
          </a:p>
          <a:p>
            <a:pPr algn="l"/>
            <a:endParaRPr lang="en-US" sz="1800" b="1" i="0" u="none" strike="noStrike" baseline="0" dirty="0">
              <a:solidFill>
                <a:srgbClr val="32373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20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2000" b="1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Item-based</a:t>
            </a:r>
            <a:r>
              <a:rPr lang="en-US" sz="20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algn="l"/>
            <a:r>
              <a:rPr lang="en-US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like Song A → Others who liked A → </a:t>
            </a:r>
            <a:r>
              <a:rPr lang="en-US" b="1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Recommend Song B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CF8A4C-E4C7-F66C-059B-4ADCC2F3D5B9}"/>
              </a:ext>
            </a:extLst>
          </p:cNvPr>
          <p:cNvSpPr txBox="1"/>
          <p:nvPr/>
        </p:nvSpPr>
        <p:spPr>
          <a:xfrm>
            <a:off x="422788" y="243583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it works</a:t>
            </a:r>
            <a:r>
              <a:rPr lang="en-US" sz="24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C3C0EF-C97C-B1A3-7395-1E333B7A942D}"/>
              </a:ext>
            </a:extLst>
          </p:cNvPr>
          <p:cNvSpPr txBox="1"/>
          <p:nvPr/>
        </p:nvSpPr>
        <p:spPr>
          <a:xfrm>
            <a:off x="422788" y="5454964"/>
            <a:ext cx="60960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Spotify Use</a:t>
            </a:r>
            <a:r>
              <a:rPr lang="en-US" sz="20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algn="l"/>
            <a:r>
              <a:rPr lang="en-US" sz="18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Powers </a:t>
            </a:r>
            <a:r>
              <a:rPr lang="en-US" sz="1800" b="1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Daily Mix </a:t>
            </a:r>
            <a:r>
              <a:rPr lang="en-US" sz="18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1800" b="1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Discover Weekly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 descr="A diagram of a video production process&#10;&#10;AI-generated content may be incorrect.">
            <a:extLst>
              <a:ext uri="{FF2B5EF4-FFF2-40B4-BE49-F238E27FC236}">
                <a16:creationId xmlns:a16="http://schemas.microsoft.com/office/drawing/2014/main" id="{9BF1A4CD-02BF-DF50-245B-BF0B4CD9F1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0467" y="2603927"/>
            <a:ext cx="3942733" cy="3942733"/>
          </a:xfrm>
          <a:prstGeom prst="rect">
            <a:avLst/>
          </a:prstGeom>
          <a:noFill/>
          <a:ln>
            <a:noFill/>
          </a:ln>
          <a:effectLst>
            <a:softEdge rad="1270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891014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3AC151E-8FC6-1CFF-396A-1FD75B09168F}"/>
              </a:ext>
            </a:extLst>
          </p:cNvPr>
          <p:cNvSpPr txBox="1"/>
          <p:nvPr/>
        </p:nvSpPr>
        <p:spPr>
          <a:xfrm>
            <a:off x="363794" y="1657132"/>
            <a:ext cx="1009772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i="0" u="none" strike="noStrike" baseline="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Content-Based Filtering – “Song DNA Analysis”</a:t>
            </a:r>
            <a:endParaRPr lang="en-US" sz="3200" dirty="0">
              <a:solidFill>
                <a:schemeClr val="tx2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3427E5-0A69-E194-D4AB-AD16B322A98B}"/>
              </a:ext>
            </a:extLst>
          </p:cNvPr>
          <p:cNvSpPr txBox="1"/>
          <p:nvPr/>
        </p:nvSpPr>
        <p:spPr>
          <a:xfrm>
            <a:off x="363794" y="3795042"/>
            <a:ext cx="602717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Analyzes </a:t>
            </a:r>
            <a:r>
              <a:rPr lang="en-US" sz="2000" b="1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tempo, key, danceability, energy, mood</a:t>
            </a:r>
          </a:p>
          <a:p>
            <a:pPr algn="l"/>
            <a:r>
              <a:rPr lang="en-US" sz="20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You play upbeat pop → System finds songs with </a:t>
            </a:r>
            <a:r>
              <a:rPr lang="en-US" sz="2000" b="1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similar BPM &amp; energy Spotify’s Audio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F63D72-9840-B0D7-B62F-BCDEC10594A4}"/>
              </a:ext>
            </a:extLst>
          </p:cNvPr>
          <p:cNvSpPr txBox="1"/>
          <p:nvPr/>
        </p:nvSpPr>
        <p:spPr>
          <a:xfrm>
            <a:off x="363794" y="319816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it works</a:t>
            </a:r>
            <a:r>
              <a:rPr lang="en-US" sz="24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7F68BC-A39C-3674-772C-D65DBB15E716}"/>
              </a:ext>
            </a:extLst>
          </p:cNvPr>
          <p:cNvSpPr txBox="1"/>
          <p:nvPr/>
        </p:nvSpPr>
        <p:spPr>
          <a:xfrm>
            <a:off x="363794" y="561811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1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Engine</a:t>
            </a:r>
            <a:r>
              <a:rPr lang="en-US" sz="18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Breaks every track into </a:t>
            </a:r>
            <a:r>
              <a:rPr lang="en-US" sz="1800" b="1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15+ acoustic features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 descr="A diagram of a movie&#10;&#10;AI-generated content may be incorrect.">
            <a:extLst>
              <a:ext uri="{FF2B5EF4-FFF2-40B4-BE49-F238E27FC236}">
                <a16:creationId xmlns:a16="http://schemas.microsoft.com/office/drawing/2014/main" id="{9D8135CB-7552-406D-EBC6-431B65D579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9794" y="2756799"/>
            <a:ext cx="4020978" cy="3710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740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C25AFA-78C5-277D-84CE-E61E40D02034}"/>
              </a:ext>
            </a:extLst>
          </p:cNvPr>
          <p:cNvSpPr txBox="1"/>
          <p:nvPr/>
        </p:nvSpPr>
        <p:spPr>
          <a:xfrm>
            <a:off x="412954" y="1645699"/>
            <a:ext cx="90260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i="0" u="none" strike="noStrike" baseline="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NLP – “Reading Between </a:t>
            </a:r>
            <a:r>
              <a:rPr lang="en-US" sz="3200" b="1" i="0" u="none" strike="noStrike" baseline="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thePlaylist</a:t>
            </a:r>
            <a:r>
              <a:rPr lang="en-US" sz="3200" b="1" i="0" u="none" strike="noStrike" baseline="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Names”</a:t>
            </a:r>
            <a:endParaRPr lang="en-US" sz="3200" dirty="0">
              <a:solidFill>
                <a:schemeClr val="tx2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DA983B-EE30-4ADC-F830-88F4932B963C}"/>
              </a:ext>
            </a:extLst>
          </p:cNvPr>
          <p:cNvSpPr txBox="1"/>
          <p:nvPr/>
        </p:nvSpPr>
        <p:spPr>
          <a:xfrm>
            <a:off x="412954" y="3760161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Scans </a:t>
            </a:r>
            <a:r>
              <a:rPr lang="en-US" sz="1800" b="1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playlist titles</a:t>
            </a:r>
            <a:r>
              <a:rPr lang="en-US" sz="18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b="1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descriptions</a:t>
            </a:r>
            <a:r>
              <a:rPr lang="en-US" sz="18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b="1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reviews</a:t>
            </a:r>
          </a:p>
          <a:p>
            <a:pPr algn="l"/>
            <a:r>
              <a:rPr lang="en-US" sz="18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“Chill Vibes” playlist → Links to </a:t>
            </a:r>
            <a:r>
              <a:rPr lang="en-US" sz="1800" b="1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lo-fi, calm tracks Adds context </a:t>
            </a:r>
            <a:r>
              <a:rPr lang="en-US" sz="18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beyond just audio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9058AB-8EA9-3C19-4BEA-D816788384E4}"/>
              </a:ext>
            </a:extLst>
          </p:cNvPr>
          <p:cNvSpPr txBox="1"/>
          <p:nvPr/>
        </p:nvSpPr>
        <p:spPr>
          <a:xfrm>
            <a:off x="412954" y="302889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it works</a:t>
            </a:r>
            <a:r>
              <a:rPr lang="en-US" sz="24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pic>
        <p:nvPicPr>
          <p:cNvPr id="6" name="Picture 5" descr="A diagram of a machine processing process&#10;&#10;AI-generated content may be incorrect.">
            <a:extLst>
              <a:ext uri="{FF2B5EF4-FFF2-40B4-BE49-F238E27FC236}">
                <a16:creationId xmlns:a16="http://schemas.microsoft.com/office/drawing/2014/main" id="{E005636C-ABCA-34C2-6D6E-98470FA67E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0296" y="2706106"/>
            <a:ext cx="4055835" cy="3628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897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B6EFE9-8635-C3A5-4B76-C08363362AA1}"/>
              </a:ext>
            </a:extLst>
          </p:cNvPr>
          <p:cNvSpPr txBox="1"/>
          <p:nvPr/>
        </p:nvSpPr>
        <p:spPr>
          <a:xfrm>
            <a:off x="422787" y="1603110"/>
            <a:ext cx="80919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i="0" u="none" strike="noStrike" baseline="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Spotify’s Hybrid Model – The Power of 3</a:t>
            </a:r>
            <a:endParaRPr lang="en-US" sz="3200" dirty="0">
              <a:solidFill>
                <a:schemeClr val="tx2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130F47-C875-2AF6-6FED-035C748CFCB8}"/>
              </a:ext>
            </a:extLst>
          </p:cNvPr>
          <p:cNvSpPr txBox="1"/>
          <p:nvPr/>
        </p:nvSpPr>
        <p:spPr>
          <a:xfrm>
            <a:off x="422786" y="3128917"/>
            <a:ext cx="72857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Center overlap</a:t>
            </a:r>
            <a:r>
              <a:rPr lang="en-US" sz="20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Personalized, balanced, contextual playlists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6A7312-E362-542E-5D6E-0FE7033C2397}"/>
              </a:ext>
            </a:extLst>
          </p:cNvPr>
          <p:cNvSpPr txBox="1"/>
          <p:nvPr/>
        </p:nvSpPr>
        <p:spPr>
          <a:xfrm>
            <a:off x="422787" y="2604264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Hybrid = Collaborative + Content + NLP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FAD56F-AF9F-6378-A268-F95C27B3CDE0}"/>
              </a:ext>
            </a:extLst>
          </p:cNvPr>
          <p:cNvSpPr txBox="1"/>
          <p:nvPr/>
        </p:nvSpPr>
        <p:spPr>
          <a:xfrm>
            <a:off x="422787" y="4053681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Features</a:t>
            </a:r>
            <a:r>
              <a:rPr lang="en-US" sz="24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F84119-3C96-8605-F17F-A146FE78C857}"/>
              </a:ext>
            </a:extLst>
          </p:cNvPr>
          <p:cNvSpPr txBox="1"/>
          <p:nvPr/>
        </p:nvSpPr>
        <p:spPr>
          <a:xfrm>
            <a:off x="422787" y="4670116"/>
            <a:ext cx="673509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2000" b="1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Discover Weekly</a:t>
            </a:r>
            <a:r>
              <a:rPr lang="en-US" sz="20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85% genre accuracy</a:t>
            </a:r>
          </a:p>
          <a:p>
            <a:pPr algn="l"/>
            <a:r>
              <a:rPr lang="en-US" sz="20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2000" b="1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Daily Mix</a:t>
            </a:r>
            <a:r>
              <a:rPr lang="en-US" sz="20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Familiar + fresh</a:t>
            </a:r>
          </a:p>
          <a:p>
            <a:pPr algn="l"/>
            <a:r>
              <a:rPr lang="en-US" sz="20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2000" b="1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Smart Shuffle</a:t>
            </a:r>
            <a:r>
              <a:rPr lang="en-US" sz="20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Enhanced but biased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766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7AA0B2-AD4B-BC13-0CFB-13DFA07B7FFA}"/>
              </a:ext>
            </a:extLst>
          </p:cNvPr>
          <p:cNvSpPr txBox="1"/>
          <p:nvPr/>
        </p:nvSpPr>
        <p:spPr>
          <a:xfrm>
            <a:off x="403123" y="1642438"/>
            <a:ext cx="82590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i="0" u="none" strike="noStrike" baseline="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Spotify’s System – Advantages (Table1)</a:t>
            </a:r>
            <a:endParaRPr lang="en-US" sz="3200" dirty="0">
              <a:solidFill>
                <a:schemeClr val="tx2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1331456-A16B-01F9-70C9-5BDE0E99AC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3244784"/>
              </p:ext>
            </p:extLst>
          </p:nvPr>
        </p:nvGraphicFramePr>
        <p:xfrm>
          <a:off x="757084" y="2615175"/>
          <a:ext cx="9202993" cy="3692842"/>
        </p:xfrm>
        <a:graphic>
          <a:graphicData uri="http://schemas.openxmlformats.org/drawingml/2006/table">
            <a:tbl>
              <a:tblPr firstRow="1">
                <a:tableStyleId>{21E4AEA4-8DFA-4A89-87EB-49C32662AFE0}</a:tableStyleId>
              </a:tblPr>
              <a:tblGrid>
                <a:gridCol w="1828799">
                  <a:extLst>
                    <a:ext uri="{9D8B030D-6E8A-4147-A177-3AD203B41FA5}">
                      <a16:colId xmlns:a16="http://schemas.microsoft.com/office/drawing/2014/main" val="4124986372"/>
                    </a:ext>
                  </a:extLst>
                </a:gridCol>
                <a:gridCol w="4444181">
                  <a:extLst>
                    <a:ext uri="{9D8B030D-6E8A-4147-A177-3AD203B41FA5}">
                      <a16:colId xmlns:a16="http://schemas.microsoft.com/office/drawing/2014/main" val="2403884671"/>
                    </a:ext>
                  </a:extLst>
                </a:gridCol>
                <a:gridCol w="2930013">
                  <a:extLst>
                    <a:ext uri="{9D8B030D-6E8A-4147-A177-3AD203B41FA5}">
                      <a16:colId xmlns:a16="http://schemas.microsoft.com/office/drawing/2014/main" val="3121584790"/>
                    </a:ext>
                  </a:extLst>
                </a:gridCol>
              </a:tblGrid>
              <a:tr h="606798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Advantage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How Achieved</a:t>
                      </a:r>
                      <a:endParaRPr lang="en-US" sz="18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Evidence</a:t>
                      </a:r>
                      <a:endParaRPr lang="en-US" sz="18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31060656"/>
                  </a:ext>
                </a:extLst>
              </a:tr>
              <a:tr h="97640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Personalization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hybrid system (collaborative, content-based, NLP) matches user tastes and contexts.</a:t>
                      </a:r>
                    </a:p>
                    <a:p>
                      <a:pPr marL="0" marR="0" algn="l">
                        <a:buNone/>
                      </a:pPr>
                      <a:r>
                        <a:rPr lang="en-US" sz="900" dirty="0">
                          <a:effectLst/>
                        </a:rPr>
                        <a:t> 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Discover Weekly’s tailored playlists [3]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19506669"/>
                  </a:ext>
                </a:extLst>
              </a:tr>
              <a:tr h="1041771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User Engagement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Feedback loops refine suggestions based on likes, skips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52% retention, 2.3B streams yearly</a:t>
                      </a:r>
                    </a:p>
                    <a:p>
                      <a:pPr marL="0" marR="0" algn="ctr"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[3, 4]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1618679"/>
                  </a:ext>
                </a:extLst>
              </a:tr>
              <a:tr h="1067871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New Artist Discovery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Analyzes patterns and audio traits to promote emerging artists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Lauv’s 2017 breakout via playlists [3]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470610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9671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4C1388-FBAD-7596-7EF8-E15FF4EC21DE}"/>
              </a:ext>
            </a:extLst>
          </p:cNvPr>
          <p:cNvSpPr txBox="1"/>
          <p:nvPr/>
        </p:nvSpPr>
        <p:spPr>
          <a:xfrm>
            <a:off x="403120" y="1642439"/>
            <a:ext cx="903584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i="0" u="none" strike="noStrike" baseline="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Spotify’s System – Disadvantages</a:t>
            </a:r>
            <a:r>
              <a:rPr lang="en-US" sz="3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i="0" u="none" strike="noStrike" baseline="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(Table2)</a:t>
            </a:r>
            <a:endParaRPr lang="en-US" sz="3200" dirty="0">
              <a:solidFill>
                <a:schemeClr val="tx2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5BED995-2F66-BFD3-EB9F-DC4B36EBDA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9303152"/>
              </p:ext>
            </p:extLst>
          </p:nvPr>
        </p:nvGraphicFramePr>
        <p:xfrm>
          <a:off x="766915" y="2617107"/>
          <a:ext cx="9193161" cy="3648409"/>
        </p:xfrm>
        <a:graphic>
          <a:graphicData uri="http://schemas.openxmlformats.org/drawingml/2006/table">
            <a:tbl>
              <a:tblPr firstRow="1">
                <a:tableStyleId>{F5AB1C69-6EDB-4FF4-983F-18BD219EF322}</a:tableStyleId>
              </a:tblPr>
              <a:tblGrid>
                <a:gridCol w="2246241">
                  <a:extLst>
                    <a:ext uri="{9D8B030D-6E8A-4147-A177-3AD203B41FA5}">
                      <a16:colId xmlns:a16="http://schemas.microsoft.com/office/drawing/2014/main" val="540773393"/>
                    </a:ext>
                  </a:extLst>
                </a:gridCol>
                <a:gridCol w="3747090">
                  <a:extLst>
                    <a:ext uri="{9D8B030D-6E8A-4147-A177-3AD203B41FA5}">
                      <a16:colId xmlns:a16="http://schemas.microsoft.com/office/drawing/2014/main" val="849384251"/>
                    </a:ext>
                  </a:extLst>
                </a:gridCol>
                <a:gridCol w="3199830">
                  <a:extLst>
                    <a:ext uri="{9D8B030D-6E8A-4147-A177-3AD203B41FA5}">
                      <a16:colId xmlns:a16="http://schemas.microsoft.com/office/drawing/2014/main" val="1048421585"/>
                    </a:ext>
                  </a:extLst>
                </a:gridCol>
              </a:tblGrid>
              <a:tr h="607874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Weakness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Algorithm Contribution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What’s Missed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23580225"/>
                  </a:ext>
                </a:extLst>
              </a:tr>
              <a:tr h="91543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Cold-Start Problem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Collaborative filtering needs user data; sparse histories limit accuracy [1]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New users/artists get generic picks, delaying personalization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56738534"/>
                  </a:ext>
                </a:extLst>
              </a:tr>
              <a:tr h="1024721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Lack of Diversity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Echo chambers from similar-user matching; NLP biases toward popular text [2]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Niche genres or moods are ignored, reducing discovery joy [6]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20243568"/>
                  </a:ext>
                </a:extLst>
              </a:tr>
              <a:tr h="1100384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Repetitive Suggestions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Content-based over-relies on audio traits; sensitive to skips in shuffle [5]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Serendipity lost—users hear the same songs, not surprises.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832967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054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D15BA3F-8CDD-ED39-8911-E7AAFDE95E68}"/>
              </a:ext>
            </a:extLst>
          </p:cNvPr>
          <p:cNvSpPr txBox="1"/>
          <p:nvPr/>
        </p:nvSpPr>
        <p:spPr>
          <a:xfrm>
            <a:off x="452283" y="1633455"/>
            <a:ext cx="826892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i="0" u="none" strike="noStrike" baseline="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Shuffle Mode Challenges (Table3)</a:t>
            </a:r>
            <a:endParaRPr lang="en-US" sz="3200" dirty="0">
              <a:solidFill>
                <a:schemeClr val="tx2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BEE6D47-5F21-11DA-7644-283D70690D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5426927"/>
              </p:ext>
            </p:extLst>
          </p:nvPr>
        </p:nvGraphicFramePr>
        <p:xfrm>
          <a:off x="747252" y="2575249"/>
          <a:ext cx="9153832" cy="366120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54344">
                  <a:extLst>
                    <a:ext uri="{9D8B030D-6E8A-4147-A177-3AD203B41FA5}">
                      <a16:colId xmlns:a16="http://schemas.microsoft.com/office/drawing/2014/main" val="41037382"/>
                    </a:ext>
                  </a:extLst>
                </a:gridCol>
                <a:gridCol w="2718294">
                  <a:extLst>
                    <a:ext uri="{9D8B030D-6E8A-4147-A177-3AD203B41FA5}">
                      <a16:colId xmlns:a16="http://schemas.microsoft.com/office/drawing/2014/main" val="1702404962"/>
                    </a:ext>
                  </a:extLst>
                </a:gridCol>
                <a:gridCol w="2540597">
                  <a:extLst>
                    <a:ext uri="{9D8B030D-6E8A-4147-A177-3AD203B41FA5}">
                      <a16:colId xmlns:a16="http://schemas.microsoft.com/office/drawing/2014/main" val="3554561154"/>
                    </a:ext>
                  </a:extLst>
                </a:gridCol>
                <a:gridCol w="2540597">
                  <a:extLst>
                    <a:ext uri="{9D8B030D-6E8A-4147-A177-3AD203B41FA5}">
                      <a16:colId xmlns:a16="http://schemas.microsoft.com/office/drawing/2014/main" val="2636010449"/>
                    </a:ext>
                  </a:extLst>
                </a:gridCol>
              </a:tblGrid>
              <a:tr h="521911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Aspect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Intended Design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User-Reported Reality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Algorithmic Cause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85546201"/>
                  </a:ext>
                </a:extLst>
              </a:tr>
              <a:tr h="984585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Randomness</a:t>
                      </a:r>
                      <a:endParaRPr lang="en-US" sz="1400" b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True mix of playlist tracks for surprise [7]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Repeats popular hits (e.g., same 50 in 200-song list) [8, 10]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Weighted by popularity and skips via collaborative filtering [1]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95551773"/>
                  </a:ext>
                </a:extLst>
              </a:tr>
              <a:tr h="1170124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Taste Balance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Personalizes based on history and mood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Biases toward mainstream/new releases, ignores niches [11]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Content-based favoritism for high-engagement audio features [2]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25660463"/>
                  </a:ext>
                </a:extLst>
              </a:tr>
              <a:tr h="984585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Engagement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Boosts discovery and session length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Feels repetitive, prompting skips or app switches [9]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Optimization for low-skip tracks, creating echo chambers [5]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549862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5523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A4DA26-E50A-5351-D02D-ED95CAAE5270}"/>
              </a:ext>
            </a:extLst>
          </p:cNvPr>
          <p:cNvSpPr txBox="1"/>
          <p:nvPr/>
        </p:nvSpPr>
        <p:spPr>
          <a:xfrm>
            <a:off x="412954" y="1603108"/>
            <a:ext cx="84950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i="0" u="none" strike="noStrike" baseline="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Comparison with YouTube Music (Table4)</a:t>
            </a:r>
            <a:endParaRPr lang="en-US" sz="3200" dirty="0">
              <a:solidFill>
                <a:schemeClr val="tx2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C6E3F1C-7B73-23A8-7619-CFA9C7993A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1759604"/>
              </p:ext>
            </p:extLst>
          </p:nvPr>
        </p:nvGraphicFramePr>
        <p:xfrm>
          <a:off x="412954" y="2467693"/>
          <a:ext cx="10314040" cy="379994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993058">
                  <a:extLst>
                    <a:ext uri="{9D8B030D-6E8A-4147-A177-3AD203B41FA5}">
                      <a16:colId xmlns:a16="http://schemas.microsoft.com/office/drawing/2014/main" val="3410700398"/>
                    </a:ext>
                  </a:extLst>
                </a:gridCol>
                <a:gridCol w="1818967">
                  <a:extLst>
                    <a:ext uri="{9D8B030D-6E8A-4147-A177-3AD203B41FA5}">
                      <a16:colId xmlns:a16="http://schemas.microsoft.com/office/drawing/2014/main" val="1496601131"/>
                    </a:ext>
                  </a:extLst>
                </a:gridCol>
                <a:gridCol w="1818968">
                  <a:extLst>
                    <a:ext uri="{9D8B030D-6E8A-4147-A177-3AD203B41FA5}">
                      <a16:colId xmlns:a16="http://schemas.microsoft.com/office/drawing/2014/main" val="3269446290"/>
                    </a:ext>
                  </a:extLst>
                </a:gridCol>
                <a:gridCol w="2015613">
                  <a:extLst>
                    <a:ext uri="{9D8B030D-6E8A-4147-A177-3AD203B41FA5}">
                      <a16:colId xmlns:a16="http://schemas.microsoft.com/office/drawing/2014/main" val="1742213219"/>
                    </a:ext>
                  </a:extLst>
                </a:gridCol>
                <a:gridCol w="1504336">
                  <a:extLst>
                    <a:ext uri="{9D8B030D-6E8A-4147-A177-3AD203B41FA5}">
                      <a16:colId xmlns:a16="http://schemas.microsoft.com/office/drawing/2014/main" val="1400349055"/>
                    </a:ext>
                  </a:extLst>
                </a:gridCol>
                <a:gridCol w="2163098">
                  <a:extLst>
                    <a:ext uri="{9D8B030D-6E8A-4147-A177-3AD203B41FA5}">
                      <a16:colId xmlns:a16="http://schemas.microsoft.com/office/drawing/2014/main" val="903035888"/>
                    </a:ext>
                  </a:extLst>
                </a:gridCol>
              </a:tblGrid>
              <a:tr h="649133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Platform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Algorithm Type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Sources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Advantages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Disadvantages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Engagement Metrics (2025 Avg.)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73020820"/>
                  </a:ext>
                </a:extLst>
              </a:tr>
              <a:tr h="1482735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Spotify</a:t>
                      </a:r>
                      <a:endParaRPr lang="en-US" sz="14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Hybrid (collaborative filtering + content-based + NLP) [3] [2]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Listening history, audio features (e.g., tempo, mood), playlist names [3]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Precise music-focused playlists, high personalization, quick adaptation via machine learning [4]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Echo chambers, repetitive suggestions, and less multimedia integration [5] [6]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 min/day session; 52% retention rate [3]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77826081"/>
                  </a:ext>
                </a:extLst>
              </a:tr>
              <a:tr h="1668077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YouTube Music</a:t>
                      </a:r>
                      <a:endParaRPr lang="en-US" sz="14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Collaborative + video-based [1] [2]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Watch history, search queries, video comments, and user-generated content [1]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Diverse discoveries from videos (e.g., live sessions), fast fine-tuning with active signals like thumbs-up [1] [2]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Generic music recs, video distractions, lower audio quality (256kbps vs. Spotify's 320kbps) [1]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30–40 min/day session; higher </a:t>
                      </a:r>
                      <a:r>
                        <a:rPr lang="en-US" sz="1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watchtime</a:t>
                      </a: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due to video spillover [1]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469249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7375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2F5157-5FBC-7D5F-FE5F-4E95D19A3383}"/>
              </a:ext>
            </a:extLst>
          </p:cNvPr>
          <p:cNvSpPr txBox="1"/>
          <p:nvPr/>
        </p:nvSpPr>
        <p:spPr>
          <a:xfrm>
            <a:off x="432619" y="1623622"/>
            <a:ext cx="74528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i="0" u="none" strike="noStrike" baseline="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Comparison with Pandora (Table5)</a:t>
            </a:r>
            <a:endParaRPr lang="en-US" sz="3200" dirty="0">
              <a:solidFill>
                <a:schemeClr val="tx2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27B3434-036F-386F-F69F-5E1D3E47CD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6926763"/>
              </p:ext>
            </p:extLst>
          </p:nvPr>
        </p:nvGraphicFramePr>
        <p:xfrm>
          <a:off x="432619" y="2640795"/>
          <a:ext cx="10156723" cy="3542141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058731">
                  <a:extLst>
                    <a:ext uri="{9D8B030D-6E8A-4147-A177-3AD203B41FA5}">
                      <a16:colId xmlns:a16="http://schemas.microsoft.com/office/drawing/2014/main" val="3844687784"/>
                    </a:ext>
                  </a:extLst>
                </a:gridCol>
                <a:gridCol w="1920444">
                  <a:extLst>
                    <a:ext uri="{9D8B030D-6E8A-4147-A177-3AD203B41FA5}">
                      <a16:colId xmlns:a16="http://schemas.microsoft.com/office/drawing/2014/main" val="2181896706"/>
                    </a:ext>
                  </a:extLst>
                </a:gridCol>
                <a:gridCol w="1927122">
                  <a:extLst>
                    <a:ext uri="{9D8B030D-6E8A-4147-A177-3AD203B41FA5}">
                      <a16:colId xmlns:a16="http://schemas.microsoft.com/office/drawing/2014/main" val="687569426"/>
                    </a:ext>
                  </a:extLst>
                </a:gridCol>
                <a:gridCol w="1661652">
                  <a:extLst>
                    <a:ext uri="{9D8B030D-6E8A-4147-A177-3AD203B41FA5}">
                      <a16:colId xmlns:a16="http://schemas.microsoft.com/office/drawing/2014/main" val="3163617360"/>
                    </a:ext>
                  </a:extLst>
                </a:gridCol>
                <a:gridCol w="1563329">
                  <a:extLst>
                    <a:ext uri="{9D8B030D-6E8A-4147-A177-3AD203B41FA5}">
                      <a16:colId xmlns:a16="http://schemas.microsoft.com/office/drawing/2014/main" val="2995107191"/>
                    </a:ext>
                  </a:extLst>
                </a:gridCol>
                <a:gridCol w="2025445">
                  <a:extLst>
                    <a:ext uri="{9D8B030D-6E8A-4147-A177-3AD203B41FA5}">
                      <a16:colId xmlns:a16="http://schemas.microsoft.com/office/drawing/2014/main" val="552437257"/>
                    </a:ext>
                  </a:extLst>
                </a:gridCol>
              </a:tblGrid>
              <a:tr h="623515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Platform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Algorithm Type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Sources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Advantages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Disadvantages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Engagement Metrics (2025 Avg.)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4911656"/>
                  </a:ext>
                </a:extLst>
              </a:tr>
              <a:tr h="1574933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Spotify</a:t>
                      </a:r>
                      <a:endParaRPr lang="en-US" sz="14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Hybrid (collaborative filtering + content-based + NLP) [2] [3]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Listening history, audio features (e.g., tempo, mood), playlist names [3]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Precise playlists, high user control, vast 100M+ catalog [3] [12]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Echo chambers, repetitive shuffle [5] [6]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 min/day session; 52% retention rate [3]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48581569"/>
                  </a:ext>
                </a:extLst>
              </a:tr>
              <a:tr h="1343693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Pandora</a:t>
                      </a:r>
                      <a:endParaRPr lang="en-US" sz="14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Content-based (Music Genome Project) [2] [12]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450+ song attributes (e.g., melody, rhythm, harmony) [12]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Nuanced serendipitous discovery, organic radio-style flow [12]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Limited 40M catalog, dated UI, skip restrictions [12]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~20 min/day session; 60% station completion rate [12]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600518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5122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521CFF6-5CA7-6E77-E130-A7C65F162E0A}"/>
              </a:ext>
            </a:extLst>
          </p:cNvPr>
          <p:cNvSpPr txBox="1"/>
          <p:nvPr/>
        </p:nvSpPr>
        <p:spPr>
          <a:xfrm>
            <a:off x="422787" y="1613792"/>
            <a:ext cx="77871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i="0" u="none" strike="noStrike" baseline="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Comparison Summary (Table6)</a:t>
            </a:r>
            <a:endParaRPr lang="en-US" sz="3200" dirty="0">
              <a:solidFill>
                <a:schemeClr val="tx2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572F6F3-59D0-CBC3-B951-7B9E645185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3086423"/>
              </p:ext>
            </p:extLst>
          </p:nvPr>
        </p:nvGraphicFramePr>
        <p:xfrm>
          <a:off x="530941" y="2457915"/>
          <a:ext cx="9979743" cy="3872102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42220">
                  <a:extLst>
                    <a:ext uri="{9D8B030D-6E8A-4147-A177-3AD203B41FA5}">
                      <a16:colId xmlns:a16="http://schemas.microsoft.com/office/drawing/2014/main" val="1573832903"/>
                    </a:ext>
                  </a:extLst>
                </a:gridCol>
                <a:gridCol w="2104103">
                  <a:extLst>
                    <a:ext uri="{9D8B030D-6E8A-4147-A177-3AD203B41FA5}">
                      <a16:colId xmlns:a16="http://schemas.microsoft.com/office/drawing/2014/main" val="3328588299"/>
                    </a:ext>
                  </a:extLst>
                </a:gridCol>
                <a:gridCol w="1936955">
                  <a:extLst>
                    <a:ext uri="{9D8B030D-6E8A-4147-A177-3AD203B41FA5}">
                      <a16:colId xmlns:a16="http://schemas.microsoft.com/office/drawing/2014/main" val="3635865077"/>
                    </a:ext>
                  </a:extLst>
                </a:gridCol>
                <a:gridCol w="2251587">
                  <a:extLst>
                    <a:ext uri="{9D8B030D-6E8A-4147-A177-3AD203B41FA5}">
                      <a16:colId xmlns:a16="http://schemas.microsoft.com/office/drawing/2014/main" val="1035571618"/>
                    </a:ext>
                  </a:extLst>
                </a:gridCol>
                <a:gridCol w="2644878">
                  <a:extLst>
                    <a:ext uri="{9D8B030D-6E8A-4147-A177-3AD203B41FA5}">
                      <a16:colId xmlns:a16="http://schemas.microsoft.com/office/drawing/2014/main" val="2834413619"/>
                    </a:ext>
                  </a:extLst>
                </a:gridCol>
              </a:tblGrid>
              <a:tr h="523674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Platform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Algorithm Type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Sources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Pros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95052187"/>
                  </a:ext>
                </a:extLst>
              </a:tr>
              <a:tr h="908727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Spotify</a:t>
                      </a:r>
                      <a:endParaRPr lang="en-US" sz="14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Hybrid(collaborative, content-based, NLP) [2]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Listening history, audio features, playlist names [3]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Precise playlists, high user control, 100M tracks [3]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Repetitive shuffle, echo chambers [3]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84587377"/>
                  </a:ext>
                </a:extLst>
              </a:tr>
              <a:tr h="1108955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YouTube Music</a:t>
                      </a:r>
                      <a:endParaRPr lang="en-US" sz="14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Collaborative + video-based [12]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Watch history, search queries, video comments [12]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Diverse, multimedia discoveries, fast adaptation [12]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Generic music recs, video distractions [12]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20075316"/>
                  </a:ext>
                </a:extLst>
              </a:tr>
              <a:tr h="1330746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Pandora</a:t>
                      </a:r>
                      <a:endParaRPr lang="en-US" sz="14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Content-based(Music Genome Project) [2]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450+ song attributes (e.g., melody, harmony) [2]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Nuanced personalization, serendipitous finds [4]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Limited 40M catalog, dated UI, skip restrictions [12]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359885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1995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CC45B78-4A1E-43B3-080D-C12EDE019F95}"/>
              </a:ext>
            </a:extLst>
          </p:cNvPr>
          <p:cNvSpPr txBox="1"/>
          <p:nvPr/>
        </p:nvSpPr>
        <p:spPr>
          <a:xfrm>
            <a:off x="452283" y="1642438"/>
            <a:ext cx="887852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i="0" u="none" strike="noStrike" baseline="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Improvements – A Better Spotify</a:t>
            </a:r>
            <a:endParaRPr lang="en-US" sz="3200" dirty="0">
              <a:solidFill>
                <a:schemeClr val="tx2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A9EE2A-410A-69EC-65D1-E461946736AB}"/>
              </a:ext>
            </a:extLst>
          </p:cNvPr>
          <p:cNvSpPr txBox="1"/>
          <p:nvPr/>
        </p:nvSpPr>
        <p:spPr>
          <a:xfrm>
            <a:off x="452282" y="5187702"/>
            <a:ext cx="91243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4. Generative AI Playlists: Prompt-based themes (e.g., “nostalgic road trip”) using LLMs → fixes cold-start, ensures ethical diversity.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5B552E-D70C-84C9-2C4D-8F79D1C944CD}"/>
              </a:ext>
            </a:extLst>
          </p:cNvPr>
          <p:cNvSpPr txBox="1"/>
          <p:nvPr/>
        </p:nvSpPr>
        <p:spPr>
          <a:xfrm>
            <a:off x="452283" y="2504212"/>
            <a:ext cx="89866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1. Mood-Aware Filtering: Let users pick mood (e.g., “stressed”) or detect via wearables→ delivers calming tracks, boosts relevance by 30%.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041E5D-E9B6-C67A-B12B-0AEAA582DF59}"/>
              </a:ext>
            </a:extLst>
          </p:cNvPr>
          <p:cNvSpPr txBox="1"/>
          <p:nvPr/>
        </p:nvSpPr>
        <p:spPr>
          <a:xfrm>
            <a:off x="452282" y="3384292"/>
            <a:ext cx="98617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2. Adjustable Shuffle Slider: Control randomness vs. personalization → reduces 45% repetition, uncovers hidden gems in large playlists.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AA406B-886B-A72C-56AB-861F6E9DFA7C}"/>
              </a:ext>
            </a:extLst>
          </p:cNvPr>
          <p:cNvSpPr txBox="1"/>
          <p:nvPr/>
        </p:nvSpPr>
        <p:spPr>
          <a:xfrm>
            <a:off x="452282" y="4264373"/>
            <a:ext cx="101272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3. Niche Artist Promotion: “Discover Deep Cuts” spotlights low-stream, high-similarity indie tracks → fights echo chambers.  </a:t>
            </a:r>
          </a:p>
        </p:txBody>
      </p:sp>
    </p:spTree>
    <p:extLst>
      <p:ext uri="{BB962C8B-B14F-4D97-AF65-F5344CB8AC3E}">
        <p14:creationId xmlns:p14="http://schemas.microsoft.com/office/powerpoint/2010/main" val="2096393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EC76A1E-72E3-50E3-1C54-1282F67DA308}"/>
              </a:ext>
            </a:extLst>
          </p:cNvPr>
          <p:cNvSpPr txBox="1"/>
          <p:nvPr/>
        </p:nvSpPr>
        <p:spPr>
          <a:xfrm>
            <a:off x="471950" y="1688631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0" u="none" strike="noStrike" baseline="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endParaRPr lang="en-US" sz="3200" dirty="0">
              <a:solidFill>
                <a:schemeClr val="tx2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176F3E-11C7-3816-4996-FBEAE42B2DA5}"/>
              </a:ext>
            </a:extLst>
          </p:cNvPr>
          <p:cNvSpPr txBox="1"/>
          <p:nvPr/>
        </p:nvSpPr>
        <p:spPr>
          <a:xfrm>
            <a:off x="471950" y="4944002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But </a:t>
            </a:r>
            <a:r>
              <a:rPr lang="en-US" sz="20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40% of users want more </a:t>
            </a:r>
            <a:r>
              <a:rPr lang="en-US" sz="2000" b="1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serendipity</a:t>
            </a:r>
            <a:r>
              <a:rPr lang="en-US" sz="20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l"/>
            <a:r>
              <a:rPr lang="en-US" sz="2000" b="1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</a:t>
            </a:r>
            <a:r>
              <a:rPr lang="en-US" sz="20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AI-generated playlists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A70AD1-2DD9-3B10-C7A4-DD7353AFBA36}"/>
              </a:ext>
            </a:extLst>
          </p:cNvPr>
          <p:cNvSpPr txBox="1"/>
          <p:nvPr/>
        </p:nvSpPr>
        <p:spPr>
          <a:xfrm>
            <a:off x="471950" y="2448149"/>
            <a:ext cx="68530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Spotify leads </a:t>
            </a:r>
            <a:r>
              <a:rPr lang="en-US" sz="20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 31% market share and 85% accuracy.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35373D-C9E3-DB62-A62D-C7527DBD1CF3}"/>
              </a:ext>
            </a:extLst>
          </p:cNvPr>
          <p:cNvSpPr txBox="1"/>
          <p:nvPr/>
        </p:nvSpPr>
        <p:spPr>
          <a:xfrm>
            <a:off x="471950" y="311718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Takeaways: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30F1E8-41C7-D898-F1AD-EA5E02AF52E0}"/>
              </a:ext>
            </a:extLst>
          </p:cNvPr>
          <p:cNvSpPr txBox="1"/>
          <p:nvPr/>
        </p:nvSpPr>
        <p:spPr>
          <a:xfrm>
            <a:off x="471950" y="3753596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Hybrid model = strong personalization</a:t>
            </a:r>
          </a:p>
          <a:p>
            <a:pPr algn="l"/>
            <a:r>
              <a:rPr lang="en-US" sz="20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Gaps: repetition, echo chambers</a:t>
            </a:r>
          </a:p>
          <a:p>
            <a:pPr algn="l"/>
            <a:r>
              <a:rPr lang="en-US" sz="20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2000" b="1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Fix with</a:t>
            </a:r>
            <a:r>
              <a:rPr lang="en-US" sz="20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mood filters, shuffle control, niche boost</a:t>
            </a:r>
          </a:p>
        </p:txBody>
      </p:sp>
    </p:spTree>
    <p:extLst>
      <p:ext uri="{BB962C8B-B14F-4D97-AF65-F5344CB8AC3E}">
        <p14:creationId xmlns:p14="http://schemas.microsoft.com/office/powerpoint/2010/main" val="3387415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20D3FD-0516-DD62-BE2A-0554E692D15B}"/>
              </a:ext>
            </a:extLst>
          </p:cNvPr>
          <p:cNvSpPr txBox="1"/>
          <p:nvPr/>
        </p:nvSpPr>
        <p:spPr>
          <a:xfrm>
            <a:off x="491614" y="1614637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0" u="none" strike="noStrike" baseline="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  <a:endParaRPr lang="en-US" sz="3200" dirty="0">
              <a:solidFill>
                <a:schemeClr val="tx2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A2CC7E-3090-49FF-76A1-A4099E10342D}"/>
              </a:ext>
            </a:extLst>
          </p:cNvPr>
          <p:cNvSpPr txBox="1"/>
          <p:nvPr/>
        </p:nvSpPr>
        <p:spPr>
          <a:xfrm>
            <a:off x="491614" y="2554142"/>
            <a:ext cx="9497961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[1] </a:t>
            </a:r>
            <a:r>
              <a:rPr lang="en-US" sz="20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Aggarwal, C. C. (2016). </a:t>
            </a:r>
            <a:r>
              <a:rPr lang="en-US" sz="2000" b="0" i="1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Recommender Systems</a:t>
            </a:r>
            <a:r>
              <a:rPr lang="en-US" sz="20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Springer.</a:t>
            </a:r>
          </a:p>
          <a:p>
            <a:pPr algn="l"/>
            <a:endParaRPr lang="en-US" sz="2000" b="0" i="0" u="none" strike="noStrike" baseline="0" dirty="0">
              <a:solidFill>
                <a:srgbClr val="32373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2000" b="1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[2] </a:t>
            </a:r>
            <a:r>
              <a:rPr lang="en-US" sz="20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Falk, K. (2019). </a:t>
            </a:r>
            <a:r>
              <a:rPr lang="en-US" sz="2000" b="0" i="1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Practical Recommender Systems</a:t>
            </a:r>
            <a:r>
              <a:rPr lang="en-US" sz="20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Manning.</a:t>
            </a:r>
          </a:p>
          <a:p>
            <a:pPr algn="l"/>
            <a:endParaRPr lang="en-US" sz="2000" b="0" i="0" u="none" strike="noStrike" baseline="0" dirty="0">
              <a:solidFill>
                <a:srgbClr val="32373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pl-PL" sz="2000" b="1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[3] </a:t>
            </a:r>
            <a:r>
              <a:rPr lang="pl-PL" sz="20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Krysik, A. (2025). </a:t>
            </a:r>
            <a:r>
              <a:rPr lang="pl-PL" sz="2000" b="0" i="1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Spotify</a:t>
            </a:r>
            <a:r>
              <a:rPr lang="en-US" sz="2000" b="0" i="1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Recommendation Algorithm</a:t>
            </a:r>
            <a:r>
              <a:rPr lang="en-US" sz="20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000" b="0" i="0" u="none" strike="noStrike" baseline="0" dirty="0" err="1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Stratoflow</a:t>
            </a:r>
            <a:r>
              <a:rPr lang="en-US" sz="200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Blog.</a:t>
            </a:r>
          </a:p>
          <a:p>
            <a:pPr algn="l"/>
            <a:endParaRPr lang="en-US" sz="2000" b="0" i="0" u="none" strike="noStrike" baseline="0" dirty="0">
              <a:solidFill>
                <a:srgbClr val="32373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2000" b="1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[4] </a:t>
            </a:r>
            <a:r>
              <a:rPr lang="en-US" sz="20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Wong, J. (2024). </a:t>
            </a:r>
            <a:r>
              <a:rPr lang="en-US" sz="2000" b="0" i="1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Algorithmic Symphonies</a:t>
            </a:r>
            <a:r>
              <a:rPr lang="en-US" sz="20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USC </a:t>
            </a:r>
            <a:r>
              <a:rPr lang="en-US" sz="2000" b="0" i="0" u="none" strike="noStrike" baseline="0" dirty="0" err="1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Illumin</a:t>
            </a:r>
            <a:r>
              <a:rPr lang="en-US" sz="20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l"/>
            <a:endParaRPr lang="en-US" sz="2000" b="0" i="0" u="none" strike="noStrike" baseline="0" dirty="0">
              <a:solidFill>
                <a:srgbClr val="32373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2000" b="1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[5] </a:t>
            </a:r>
            <a:r>
              <a:rPr lang="en-US" sz="20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Reddit r/</a:t>
            </a:r>
            <a:r>
              <a:rPr lang="en-US" sz="2000" b="0" i="0" u="none" strike="noStrike" baseline="0" dirty="0" err="1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musicindustry</a:t>
            </a:r>
            <a:r>
              <a:rPr lang="en-US" sz="20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(2025). </a:t>
            </a:r>
            <a:r>
              <a:rPr lang="en-US" sz="2000" b="0" i="1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Spotify’s Algorithm Feels Broken</a:t>
            </a:r>
            <a:r>
              <a:rPr lang="en-US" sz="20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l"/>
            <a:endParaRPr lang="en-US" sz="2000" dirty="0">
              <a:solidFill>
                <a:srgbClr val="32373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200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more…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5811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8A04EB-94B4-8133-B8C1-67225DE3DFB3}"/>
              </a:ext>
            </a:extLst>
          </p:cNvPr>
          <p:cNvSpPr txBox="1"/>
          <p:nvPr/>
        </p:nvSpPr>
        <p:spPr>
          <a:xfrm>
            <a:off x="629264" y="1825554"/>
            <a:ext cx="35887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i="0" u="none" strike="noStrike" baseline="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You!</a:t>
            </a:r>
            <a:endParaRPr lang="en-US" sz="3600" dirty="0">
              <a:solidFill>
                <a:schemeClr val="tx2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B9CC79-C848-ABCE-633A-8739EA489D84}"/>
              </a:ext>
            </a:extLst>
          </p:cNvPr>
          <p:cNvSpPr txBox="1"/>
          <p:nvPr/>
        </p:nvSpPr>
        <p:spPr>
          <a:xfrm>
            <a:off x="4753897" y="3429000"/>
            <a:ext cx="26842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Questions</a:t>
            </a:r>
            <a:r>
              <a:rPr lang="en-US" sz="3200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72F70F-D8B1-3844-2B50-D2D200A2F212}"/>
              </a:ext>
            </a:extLst>
          </p:cNvPr>
          <p:cNvSpPr txBox="1"/>
          <p:nvPr/>
        </p:nvSpPr>
        <p:spPr>
          <a:xfrm>
            <a:off x="629264" y="5171370"/>
            <a:ext cx="6096000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Contact:</a:t>
            </a:r>
          </a:p>
          <a:p>
            <a:pPr algn="l"/>
            <a:r>
              <a:rPr lang="en-US" sz="1800" b="0" i="0" u="sng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nimanikrouz@gmail.com</a:t>
            </a:r>
          </a:p>
          <a:p>
            <a:pPr algn="l"/>
            <a:r>
              <a:rPr lang="en-US" sz="1800" b="0" i="0" u="sng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alishahnazi83@gmail.com</a:t>
            </a:r>
          </a:p>
          <a:p>
            <a:pPr algn="l"/>
            <a:r>
              <a:rPr lang="en-US" sz="1800" b="0" i="0" u="sng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abdorreza.mohseni@alum.sharif.edu</a:t>
            </a:r>
            <a:endParaRPr lang="en-US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5423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389</TotalTime>
  <Words>1529</Words>
  <Application>Microsoft Macintosh PowerPoint</Application>
  <PresentationFormat>Widescreen</PresentationFormat>
  <Paragraphs>188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Aptos</vt:lpstr>
      <vt:lpstr>Arial</vt:lpstr>
      <vt:lpstr>B Mitra</vt:lpstr>
      <vt:lpstr>B Nazanin</vt:lpstr>
      <vt:lpstr>Corbel</vt:lpstr>
      <vt:lpstr>Times New Roman</vt:lpstr>
      <vt:lpstr>Parallax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Asus</dc:creator>
  <cp:lastModifiedBy>Nima Nikrouz</cp:lastModifiedBy>
  <cp:revision>24</cp:revision>
  <dcterms:created xsi:type="dcterms:W3CDTF">2024-01-26T15:58:59Z</dcterms:created>
  <dcterms:modified xsi:type="dcterms:W3CDTF">2025-11-17T13:26:38Z</dcterms:modified>
</cp:coreProperties>
</file>